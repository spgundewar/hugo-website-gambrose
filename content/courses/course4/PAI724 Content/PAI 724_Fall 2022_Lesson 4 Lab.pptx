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63" r:id="rId4"/>
    <p:sldId id="315" r:id="rId5"/>
    <p:sldId id="314" r:id="rId6"/>
    <p:sldId id="264" r:id="rId7"/>
    <p:sldId id="301" r:id="rId8"/>
    <p:sldId id="300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10" r:id="rId17"/>
    <p:sldId id="309" r:id="rId18"/>
    <p:sldId id="311" r:id="rId19"/>
    <p:sldId id="312" r:id="rId20"/>
    <p:sldId id="313" r:id="rId21"/>
    <p:sldId id="270" r:id="rId22"/>
    <p:sldId id="271" r:id="rId23"/>
    <p:sldId id="285" r:id="rId24"/>
    <p:sldId id="295" r:id="rId25"/>
    <p:sldId id="294" r:id="rId26"/>
    <p:sldId id="297" r:id="rId27"/>
    <p:sldId id="298" r:id="rId28"/>
    <p:sldId id="299" r:id="rId29"/>
    <p:sldId id="316" r:id="rId30"/>
    <p:sldId id="317" r:id="rId31"/>
    <p:sldId id="318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86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5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8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8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6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4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1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4EFF1E3-19FE-441A-8A1A-45616FFD79CF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0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D8AD-9D7A-418E-8E56-D8A7B790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239" y="2005007"/>
            <a:ext cx="6939520" cy="2847986"/>
          </a:xfrm>
        </p:spPr>
        <p:txBody>
          <a:bodyPr/>
          <a:lstStyle/>
          <a:p>
            <a:r>
              <a:rPr lang="en-US" dirty="0"/>
              <a:t>PAI 724: </a:t>
            </a:r>
            <a:br>
              <a:rPr lang="en-US" dirty="0"/>
            </a:br>
            <a:r>
              <a:rPr lang="en-US" dirty="0"/>
              <a:t>Data Driven Decision making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42FF27-71D0-4E30-986D-DEF1D3794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1394" y="5618106"/>
            <a:ext cx="5101209" cy="1239894"/>
          </a:xfrm>
        </p:spPr>
        <p:txBody>
          <a:bodyPr/>
          <a:lstStyle/>
          <a:p>
            <a:r>
              <a:rPr lang="en-US" dirty="0"/>
              <a:t>Week </a:t>
            </a:r>
          </a:p>
          <a:p>
            <a:r>
              <a:rPr lang="en-US" dirty="0"/>
              <a:t>October 3, 2021</a:t>
            </a:r>
          </a:p>
        </p:txBody>
      </p:sp>
    </p:spTree>
    <p:extLst>
      <p:ext uri="{BB962C8B-B14F-4D97-AF65-F5344CB8AC3E}">
        <p14:creationId xmlns:p14="http://schemas.microsoft.com/office/powerpoint/2010/main" val="4715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ED97-FEC2-492C-84EA-4A65C138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DEFD-6809-456C-B74F-E4B428971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122" y="3756017"/>
            <a:ext cx="5937755" cy="31019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179954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66C3-1E09-4346-B05E-12E13A8F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Programing operations for springs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BB3-BE0E-4F77-896C-735431F85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4058030"/>
          </a:xfrm>
        </p:spPr>
        <p:txBody>
          <a:bodyPr>
            <a:normAutofit/>
          </a:bodyPr>
          <a:lstStyle/>
          <a:p>
            <a:r>
              <a:rPr lang="en-US" dirty="0"/>
              <a:t>Collecting, organizing, manipulating string data, or sequences of characters</a:t>
            </a:r>
          </a:p>
        </p:txBody>
      </p:sp>
    </p:spTree>
    <p:extLst>
      <p:ext uri="{BB962C8B-B14F-4D97-AF65-F5344CB8AC3E}">
        <p14:creationId xmlns:p14="http://schemas.microsoft.com/office/powerpoint/2010/main" val="192023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Strings are </a:t>
            </a:r>
            <a:r>
              <a:rPr lang="en-US" b="1" dirty="0"/>
              <a:t>Immutable</a:t>
            </a:r>
            <a:endParaRPr lang="en-US" sz="1800" b="1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228600" lvl="1" indent="0">
              <a:buNone/>
            </a:pPr>
            <a:r>
              <a:rPr lang="en-US" sz="1800" dirty="0"/>
              <a:t>  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9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Strings are </a:t>
            </a:r>
            <a:r>
              <a:rPr lang="en-US" b="1" dirty="0"/>
              <a:t>Immutable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While strings are made up of individual characters, python sees strings as one “object”.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This means we can’t change a single character in the string object.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26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Indexing</a:t>
            </a:r>
            <a:r>
              <a:rPr lang="en-US" dirty="0"/>
              <a:t>: Identifying positions of characters within string</a:t>
            </a:r>
          </a:p>
          <a:p>
            <a:pPr lvl="1"/>
            <a:r>
              <a:rPr lang="en-US" sz="1800" dirty="0"/>
              <a:t>Example: variable[x]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228600" lvl="1" indent="0">
              <a:buNone/>
            </a:pPr>
            <a:r>
              <a:rPr lang="en-US" sz="1800" dirty="0"/>
              <a:t>     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429313-2984-4BEE-A199-A14095D6DA56}"/>
              </a:ext>
            </a:extLst>
          </p:cNvPr>
          <p:cNvCxnSpPr>
            <a:cxnSpLocks/>
          </p:cNvCxnSpPr>
          <p:nvPr/>
        </p:nvCxnSpPr>
        <p:spPr>
          <a:xfrm flipH="1" flipV="1">
            <a:off x="3893907" y="3429000"/>
            <a:ext cx="205482" cy="197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780B05-FFA9-4E81-A3A5-2AAB0A4FFD35}"/>
              </a:ext>
            </a:extLst>
          </p:cNvPr>
          <p:cNvSpPr txBox="1"/>
          <p:nvPr/>
        </p:nvSpPr>
        <p:spPr>
          <a:xfrm>
            <a:off x="3739794" y="3626778"/>
            <a:ext cx="92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“index”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D3309B4-3675-43B2-8744-DB12CF72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309383"/>
              </p:ext>
            </p:extLst>
          </p:nvPr>
        </p:nvGraphicFramePr>
        <p:xfrm>
          <a:off x="380999" y="4800177"/>
          <a:ext cx="8382002" cy="36933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153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sz="1800" dirty="0"/>
              <a:t>hi[length] == hi[14]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228600" lvl="1" indent="0">
              <a:buNone/>
            </a:pPr>
            <a:r>
              <a:rPr lang="en-US" sz="1800" dirty="0"/>
              <a:t>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D3309B4-3675-43B2-8744-DB12CF72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06995"/>
              </p:ext>
            </p:extLst>
          </p:nvPr>
        </p:nvGraphicFramePr>
        <p:xfrm>
          <a:off x="380999" y="4262700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0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366923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sz="1800" dirty="0"/>
              <a:t>hi[length] == hi[14]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228600" lvl="1" indent="0">
              <a:buNone/>
            </a:pPr>
            <a:r>
              <a:rPr lang="en-US" sz="1800" dirty="0"/>
              <a:t>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D3309B4-3675-43B2-8744-DB12CF72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74478"/>
              </p:ext>
            </p:extLst>
          </p:nvPr>
        </p:nvGraphicFramePr>
        <p:xfrm>
          <a:off x="380999" y="4262700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675816-32F9-1513-D20A-C1E92274A021}"/>
              </a:ext>
            </a:extLst>
          </p:cNvPr>
          <p:cNvSpPr txBox="1"/>
          <p:nvPr/>
        </p:nvSpPr>
        <p:spPr>
          <a:xfrm>
            <a:off x="8686801" y="4262700"/>
            <a:ext cx="48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CB302-FAE0-7213-66DD-40401B87EB3A}"/>
              </a:ext>
            </a:extLst>
          </p:cNvPr>
          <p:cNvSpPr/>
          <p:nvPr/>
        </p:nvSpPr>
        <p:spPr>
          <a:xfrm>
            <a:off x="8763001" y="4644439"/>
            <a:ext cx="30479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5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7C4-DD64-4B7E-B0EB-646677590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34A-8DBE-401C-BC76-213792750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0">
              <a:buNone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hi[length] == hi[14]</a:t>
            </a:r>
          </a:p>
          <a:p>
            <a:pPr marL="228600" lvl="1" indent="0">
              <a:buNone/>
            </a:pPr>
            <a:r>
              <a:rPr lang="en-US" sz="1800" dirty="0"/>
              <a:t>hi[length-1] == hi[13]</a:t>
            </a:r>
          </a:p>
          <a:p>
            <a:pPr marL="228600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228600" lvl="1" indent="0">
              <a:buNone/>
            </a:pPr>
            <a:r>
              <a:rPr lang="en-US" sz="1800" dirty="0"/>
              <a:t>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D3309B4-3675-43B2-8744-DB12CF72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34198"/>
              </p:ext>
            </p:extLst>
          </p:nvPr>
        </p:nvGraphicFramePr>
        <p:xfrm>
          <a:off x="380999" y="4262700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A675816-32F9-1513-D20A-C1E92274A021}"/>
              </a:ext>
            </a:extLst>
          </p:cNvPr>
          <p:cNvSpPr txBox="1"/>
          <p:nvPr/>
        </p:nvSpPr>
        <p:spPr>
          <a:xfrm>
            <a:off x="8686801" y="4262700"/>
            <a:ext cx="48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6CB302-FAE0-7213-66DD-40401B87EB3A}"/>
              </a:ext>
            </a:extLst>
          </p:cNvPr>
          <p:cNvSpPr/>
          <p:nvPr/>
        </p:nvSpPr>
        <p:spPr>
          <a:xfrm>
            <a:off x="8763001" y="4644439"/>
            <a:ext cx="30479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65538-10E0-C874-82D4-8F57156A2C59}"/>
              </a:ext>
            </a:extLst>
          </p:cNvPr>
          <p:cNvSpPr/>
          <p:nvPr/>
        </p:nvSpPr>
        <p:spPr>
          <a:xfrm>
            <a:off x="8258176" y="4644439"/>
            <a:ext cx="485775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3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269432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 err="1"/>
              <a:t>n:m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n-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include</a:t>
            </a:r>
            <a:endParaRPr lang="en-US" dirty="0"/>
          </a:p>
          <a:p>
            <a:r>
              <a:rPr lang="en-US" dirty="0"/>
              <a:t>m-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exclude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410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 err="1"/>
              <a:t>n:m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n-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include</a:t>
            </a:r>
            <a:endParaRPr lang="en-US" dirty="0"/>
          </a:p>
          <a:p>
            <a:r>
              <a:rPr lang="en-US" dirty="0"/>
              <a:t>m-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exclude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54235"/>
              </p:ext>
            </p:extLst>
          </p:nvPr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17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 err="1"/>
              <a:t>n:m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n-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include</a:t>
            </a:r>
            <a:endParaRPr lang="en-US" dirty="0"/>
          </a:p>
          <a:p>
            <a:r>
              <a:rPr lang="en-US" dirty="0"/>
              <a:t>m-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exclude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689543"/>
              </p:ext>
            </p:extLst>
          </p:nvPr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03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n-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include</a:t>
            </a:r>
            <a:endParaRPr lang="en-US" dirty="0"/>
          </a:p>
          <a:p>
            <a:r>
              <a:rPr lang="en-US" dirty="0"/>
              <a:t>m-</a:t>
            </a:r>
            <a:r>
              <a:rPr lang="en-US" dirty="0" err="1"/>
              <a:t>th</a:t>
            </a:r>
            <a:r>
              <a:rPr lang="en-US" dirty="0"/>
              <a:t> character </a:t>
            </a:r>
            <a:r>
              <a:rPr lang="en-US" dirty="0">
                <a:sym typeface="Wingdings" panose="05000000000000000000" pitchFamily="2" charset="2"/>
              </a:rPr>
              <a:t> first character to exclude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/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227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342111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8</a:t>
            </a:r>
            <a:r>
              <a:rPr lang="en-US" dirty="0"/>
              <a:t>:</a:t>
            </a:r>
            <a:r>
              <a:rPr lang="en-US" dirty="0">
                <a:solidFill>
                  <a:srgbClr val="FF0000"/>
                </a:solidFill>
              </a:rPr>
              <a:t>13</a:t>
            </a:r>
            <a:r>
              <a:rPr lang="en-US" dirty="0"/>
              <a:t>]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984343"/>
              </p:ext>
            </p:extLst>
          </p:nvPr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41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hi[8:13]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8</a:t>
            </a:r>
            <a:r>
              <a:rPr lang="en-US" dirty="0"/>
              <a:t>:]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54081"/>
              </p:ext>
            </p:extLst>
          </p:nvPr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999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F36-A04C-455E-A3F4-3CD9923D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relevant for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911B-90BC-4F5C-90D0-44FB6096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Slicing: </a:t>
            </a:r>
            <a:r>
              <a:rPr lang="en-US" dirty="0"/>
              <a:t> Taking  segment from a string</a:t>
            </a:r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DCD59-6DF0-4525-85D4-8D2A51A63C65}"/>
              </a:ext>
            </a:extLst>
          </p:cNvPr>
          <p:cNvSpPr txBox="1"/>
          <p:nvPr/>
        </p:nvSpPr>
        <p:spPr>
          <a:xfrm>
            <a:off x="1600200" y="3224111"/>
            <a:ext cx="6773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] == hi[: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hi[8:13]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hi[</a:t>
            </a:r>
            <a:r>
              <a:rPr lang="en-US" dirty="0">
                <a:solidFill>
                  <a:srgbClr val="00B050"/>
                </a:solidFill>
              </a:rPr>
              <a:t>8</a:t>
            </a:r>
            <a:r>
              <a:rPr lang="en-US" dirty="0"/>
              <a:t>:]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2C7D03BC-4252-E8A5-0B4E-245F58083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29784"/>
              </p:ext>
            </p:extLst>
          </p:nvPr>
        </p:nvGraphicFramePr>
        <p:xfrm>
          <a:off x="380999" y="4843725"/>
          <a:ext cx="8382002" cy="110799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58046">
                  <a:extLst>
                    <a:ext uri="{9D8B030D-6E8A-4147-A177-3AD203B41FA5}">
                      <a16:colId xmlns:a16="http://schemas.microsoft.com/office/drawing/2014/main" val="576330162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333911089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603309925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2232586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6413396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26758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17180726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48471280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3125333913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173320714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652983497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458001250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482379031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1855160526"/>
                    </a:ext>
                  </a:extLst>
                </a:gridCol>
                <a:gridCol w="508854">
                  <a:extLst>
                    <a:ext uri="{9D8B030D-6E8A-4147-A177-3AD203B41FA5}">
                      <a16:colId xmlns:a16="http://schemas.microsoft.com/office/drawing/2014/main" val="258090890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544600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903605"/>
                  </a:ext>
                </a:extLst>
              </a:tr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2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625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2770092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3024-27E1-4DF2-92CE-02E35FC9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String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C188A-6C33-416A-AD2B-4DFFEAE460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9"/>
          <a:stretch/>
        </p:blipFill>
        <p:spPr>
          <a:xfrm>
            <a:off x="1606045" y="2700735"/>
            <a:ext cx="5858838" cy="1081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372520-4BA2-4C8F-AAE1-B7F9F72A8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229" y="3915648"/>
            <a:ext cx="5512083" cy="28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2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79FD-9364-4FFC-BC13-FE8EE409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5840-78F7-4125-AB6B-6048C6E4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35778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computational power to classify and detect patterns among human language</a:t>
            </a:r>
          </a:p>
          <a:p>
            <a:r>
              <a:rPr lang="en-US" dirty="0"/>
              <a:t>Subfield of computer science, linguistics, and artificial intelligence</a:t>
            </a:r>
          </a:p>
          <a:p>
            <a:r>
              <a:rPr lang="en-US" dirty="0"/>
              <a:t>Leverages ability to detect, process, and manipulate string values</a:t>
            </a:r>
          </a:p>
          <a:p>
            <a:r>
              <a:rPr lang="en-US" dirty="0"/>
              <a:t>NLP tools:</a:t>
            </a:r>
          </a:p>
          <a:p>
            <a:pPr lvl="1"/>
            <a:r>
              <a:rPr lang="en-US" dirty="0"/>
              <a:t>Based on dictionary-based classification</a:t>
            </a:r>
          </a:p>
          <a:p>
            <a:pPr lvl="1"/>
            <a:r>
              <a:rPr lang="en-US" dirty="0"/>
              <a:t>Supervised or unsupervised machine learning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54883-692C-47E8-93EE-B459083E50B2}"/>
              </a:ext>
            </a:extLst>
          </p:cNvPr>
          <p:cNvSpPr txBox="1"/>
          <p:nvPr/>
        </p:nvSpPr>
        <p:spPr>
          <a:xfrm>
            <a:off x="2090791" y="5754200"/>
            <a:ext cx="4962418" cy="9233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dirty="0"/>
              <a:t>https://www.youtube.com/watch?v=fOvTtapxa9c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01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22066-3036-40FB-BF05-9C3BEE15AA23}"/>
              </a:ext>
            </a:extLst>
          </p:cNvPr>
          <p:cNvSpPr txBox="1"/>
          <p:nvPr/>
        </p:nvSpPr>
        <p:spPr>
          <a:xfrm>
            <a:off x="1258349" y="2843868"/>
            <a:ext cx="6946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certified organic farming operation must annually pay certification fees and submit an updated organic production system plan or else face revocation of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753993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22066-3036-40FB-BF05-9C3BEE15AA23}"/>
              </a:ext>
            </a:extLst>
          </p:cNvPr>
          <p:cNvSpPr txBox="1"/>
          <p:nvPr/>
        </p:nvSpPr>
        <p:spPr>
          <a:xfrm>
            <a:off x="1828800" y="415398"/>
            <a:ext cx="694608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</a:p>
          <a:p>
            <a:r>
              <a:rPr lang="en-US" dirty="0"/>
              <a:t>certified </a:t>
            </a:r>
          </a:p>
          <a:p>
            <a:r>
              <a:rPr lang="en-US" dirty="0"/>
              <a:t>organic</a:t>
            </a:r>
          </a:p>
          <a:p>
            <a:r>
              <a:rPr lang="en-US" dirty="0"/>
              <a:t>farming </a:t>
            </a:r>
          </a:p>
          <a:p>
            <a:r>
              <a:rPr lang="en-US" dirty="0"/>
              <a:t>operation </a:t>
            </a:r>
          </a:p>
          <a:p>
            <a:r>
              <a:rPr lang="en-US" dirty="0"/>
              <a:t>must </a:t>
            </a:r>
          </a:p>
          <a:p>
            <a:r>
              <a:rPr lang="en-US" dirty="0"/>
              <a:t>annually </a:t>
            </a:r>
          </a:p>
          <a:p>
            <a:r>
              <a:rPr lang="en-US" dirty="0"/>
              <a:t>pay </a:t>
            </a:r>
          </a:p>
          <a:p>
            <a:r>
              <a:rPr lang="en-US" dirty="0"/>
              <a:t>submit</a:t>
            </a:r>
          </a:p>
          <a:p>
            <a:r>
              <a:rPr lang="en-US" dirty="0"/>
              <a:t>certification </a:t>
            </a:r>
          </a:p>
          <a:p>
            <a:r>
              <a:rPr lang="en-US" dirty="0"/>
              <a:t>fees  </a:t>
            </a:r>
          </a:p>
          <a:p>
            <a:r>
              <a:rPr lang="en-US" dirty="0"/>
              <a:t>updated </a:t>
            </a:r>
          </a:p>
          <a:p>
            <a:r>
              <a:rPr lang="en-US" dirty="0"/>
              <a:t>organic </a:t>
            </a:r>
          </a:p>
          <a:p>
            <a:r>
              <a:rPr lang="en-US" dirty="0"/>
              <a:t>production </a:t>
            </a:r>
          </a:p>
          <a:p>
            <a:r>
              <a:rPr lang="en-US" dirty="0"/>
              <a:t>system </a:t>
            </a:r>
          </a:p>
          <a:p>
            <a:r>
              <a:rPr lang="en-US" dirty="0"/>
              <a:t>plan </a:t>
            </a:r>
          </a:p>
          <a:p>
            <a:r>
              <a:rPr lang="en-US" dirty="0"/>
              <a:t>or </a:t>
            </a:r>
          </a:p>
          <a:p>
            <a:r>
              <a:rPr lang="en-US" dirty="0"/>
              <a:t>else </a:t>
            </a:r>
          </a:p>
          <a:p>
            <a:r>
              <a:rPr lang="en-US" dirty="0"/>
              <a:t>face </a:t>
            </a:r>
          </a:p>
          <a:p>
            <a:r>
              <a:rPr lang="en-US" dirty="0"/>
              <a:t>revocation </a:t>
            </a:r>
          </a:p>
          <a:p>
            <a:r>
              <a:rPr lang="en-US" dirty="0"/>
              <a:t>of </a:t>
            </a:r>
          </a:p>
          <a:p>
            <a:r>
              <a:rPr lang="en-US" dirty="0"/>
              <a:t>certification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DF33593F-E493-4507-A579-44256EFF9710}"/>
              </a:ext>
            </a:extLst>
          </p:cNvPr>
          <p:cNvSpPr/>
          <p:nvPr/>
        </p:nvSpPr>
        <p:spPr>
          <a:xfrm rot="10800000">
            <a:off x="3649211" y="616733"/>
            <a:ext cx="587229" cy="5825869"/>
          </a:xfrm>
          <a:prstGeom prst="leftBrace">
            <a:avLst>
              <a:gd name="adj1" fmla="val 8333"/>
              <a:gd name="adj2" fmla="val 494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96944-A327-4361-A2BE-04C2F840B6D8}"/>
              </a:ext>
            </a:extLst>
          </p:cNvPr>
          <p:cNvSpPr txBox="1"/>
          <p:nvPr/>
        </p:nvSpPr>
        <p:spPr>
          <a:xfrm>
            <a:off x="4739779" y="3323885"/>
            <a:ext cx="343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Assigned parts of speech tags</a:t>
            </a:r>
          </a:p>
        </p:txBody>
      </p:sp>
    </p:spTree>
    <p:extLst>
      <p:ext uri="{BB962C8B-B14F-4D97-AF65-F5344CB8AC3E}">
        <p14:creationId xmlns:p14="http://schemas.microsoft.com/office/powerpoint/2010/main" val="1163688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3E84D-6FC8-4483-A54E-83AC0CEC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52790"/>
            <a:ext cx="7187184" cy="2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40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3E84D-6FC8-4483-A54E-83AC0CEC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52790"/>
            <a:ext cx="7187184" cy="260535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2BFB11-DACA-4F00-8AC8-D02E3945EF14}"/>
              </a:ext>
            </a:extLst>
          </p:cNvPr>
          <p:cNvCxnSpPr/>
          <p:nvPr/>
        </p:nvCxnSpPr>
        <p:spPr>
          <a:xfrm flipV="1">
            <a:off x="2055303" y="4479722"/>
            <a:ext cx="0" cy="671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BA6773-3615-4A4C-860E-3E15A631D38B}"/>
              </a:ext>
            </a:extLst>
          </p:cNvPr>
          <p:cNvSpPr txBox="1"/>
          <p:nvPr/>
        </p:nvSpPr>
        <p:spPr>
          <a:xfrm>
            <a:off x="1261892" y="5150841"/>
            <a:ext cx="1384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Policy actor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09039D-F2CF-4B94-95BF-8006A45397B3}"/>
              </a:ext>
            </a:extLst>
          </p:cNvPr>
          <p:cNvCxnSpPr/>
          <p:nvPr/>
        </p:nvCxnSpPr>
        <p:spPr>
          <a:xfrm flipV="1">
            <a:off x="6888759" y="4439175"/>
            <a:ext cx="0" cy="671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744EAA-2ED7-4102-80B7-5A18690DAE4D}"/>
              </a:ext>
            </a:extLst>
          </p:cNvPr>
          <p:cNvCxnSpPr/>
          <p:nvPr/>
        </p:nvCxnSpPr>
        <p:spPr>
          <a:xfrm flipV="1">
            <a:off x="5673755" y="4448962"/>
            <a:ext cx="0" cy="671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7069C2-F161-4211-AF2E-0FE3B4C1F674}"/>
              </a:ext>
            </a:extLst>
          </p:cNvPr>
          <p:cNvCxnSpPr/>
          <p:nvPr/>
        </p:nvCxnSpPr>
        <p:spPr>
          <a:xfrm flipV="1">
            <a:off x="4441971" y="4465740"/>
            <a:ext cx="0" cy="671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6D2D58-6711-41DC-A284-65A9D9C83374}"/>
              </a:ext>
            </a:extLst>
          </p:cNvPr>
          <p:cNvCxnSpPr/>
          <p:nvPr/>
        </p:nvCxnSpPr>
        <p:spPr>
          <a:xfrm flipV="1">
            <a:off x="3196937" y="4479722"/>
            <a:ext cx="0" cy="671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6C054F-F08C-4387-86F4-B92595447CE3}"/>
              </a:ext>
            </a:extLst>
          </p:cNvPr>
          <p:cNvSpPr txBox="1"/>
          <p:nvPr/>
        </p:nvSpPr>
        <p:spPr>
          <a:xfrm>
            <a:off x="4984472" y="5168160"/>
            <a:ext cx="1384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Policy relevant 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63A008-7B4B-43B8-9A5E-1A94B39DAD35}"/>
              </a:ext>
            </a:extLst>
          </p:cNvPr>
          <p:cNvSpPr txBox="1"/>
          <p:nvPr/>
        </p:nvSpPr>
        <p:spPr>
          <a:xfrm>
            <a:off x="3772276" y="5168160"/>
            <a:ext cx="1384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Temporal parameter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9E084-3A5C-4507-B059-07B500EE0D69}"/>
              </a:ext>
            </a:extLst>
          </p:cNvPr>
          <p:cNvSpPr txBox="1"/>
          <p:nvPr/>
        </p:nvSpPr>
        <p:spPr>
          <a:xfrm>
            <a:off x="2474088" y="5168159"/>
            <a:ext cx="1384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Prescriptive operator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C9E448-5955-49B2-ABB3-B297D1891E78}"/>
              </a:ext>
            </a:extLst>
          </p:cNvPr>
          <p:cNvSpPr txBox="1"/>
          <p:nvPr/>
        </p:nvSpPr>
        <p:spPr>
          <a:xfrm>
            <a:off x="6196668" y="5168160"/>
            <a:ext cx="1384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Policy relevant object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96EBFD23-B2A6-47D0-810C-4296C2838783}"/>
              </a:ext>
            </a:extLst>
          </p:cNvPr>
          <p:cNvSpPr/>
          <p:nvPr/>
        </p:nvSpPr>
        <p:spPr>
          <a:xfrm rot="10800000">
            <a:off x="7268061" y="5080211"/>
            <a:ext cx="550125" cy="1064590"/>
          </a:xfrm>
          <a:prstGeom prst="lef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256DDF-8DE1-4A2E-B535-29A2CAB84208}"/>
              </a:ext>
            </a:extLst>
          </p:cNvPr>
          <p:cNvSpPr txBox="1"/>
          <p:nvPr/>
        </p:nvSpPr>
        <p:spPr>
          <a:xfrm>
            <a:off x="7897277" y="5168159"/>
            <a:ext cx="1182174" cy="923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Abstract</a:t>
            </a:r>
            <a:r>
              <a:rPr lang="en-US" dirty="0"/>
              <a:t> to general syntax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6271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B599-EDD4-4E96-8B6A-AC2E26D0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Analysis</a:t>
            </a:r>
          </a:p>
        </p:txBody>
      </p:sp>
    </p:spTree>
    <p:extLst>
      <p:ext uri="{BB962C8B-B14F-4D97-AF65-F5344CB8AC3E}">
        <p14:creationId xmlns:p14="http://schemas.microsoft.com/office/powerpoint/2010/main" val="1116025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3A34-C5BE-4A91-85D6-67DEBE60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content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F831-DA9B-409E-89B2-2396B528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Avenir LT W01_45 Book1475508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venir LT W01_45 Book1475508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Technique used to determine the presence of certain words, themes, or concepts within text.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Avenir LT W01_45 Book147550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186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F9EB-7DA2-4C3F-B30D-665F1176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06E5E-F8AE-4DB7-BA81-614436167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453379"/>
            <a:ext cx="5937755" cy="399523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Identify the intentions, focus or communication trends of an individual, group or institution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Describe attitudinal and behavioral responses to communications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Determine psychological or emotional state of persons or groups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Reveal international differences in communication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Reveal patterns in communication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Pre-test and improve an intervention or survey prior to launch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venir LT W01_45 Book1475508"/>
              </a:rPr>
              <a:t>Analyze focus group interviews and open-ended questions to complement quantitative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venir LT W01_45 Book1475508"/>
              </a:rPr>
              <a:t>dat</a:t>
            </a:r>
            <a:endParaRPr lang="en-US" b="0" i="0" dirty="0">
              <a:solidFill>
                <a:srgbClr val="000000"/>
              </a:solidFill>
              <a:effectLst/>
              <a:latin typeface="Avenir LT W01_45 Book1475508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3DB82-273E-496D-A572-EDC6101FE301}"/>
              </a:ext>
            </a:extLst>
          </p:cNvPr>
          <p:cNvSpPr txBox="1"/>
          <p:nvPr/>
        </p:nvSpPr>
        <p:spPr>
          <a:xfrm>
            <a:off x="154984" y="6448609"/>
            <a:ext cx="937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https://www.publichealth.columbia.edu/research/population-health-methods/content-analysis</a:t>
            </a:r>
          </a:p>
        </p:txBody>
      </p:sp>
    </p:spTree>
    <p:extLst>
      <p:ext uri="{BB962C8B-B14F-4D97-AF65-F5344CB8AC3E}">
        <p14:creationId xmlns:p14="http://schemas.microsoft.com/office/powerpoint/2010/main" val="2653841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0789-0C7B-40C5-9D7C-29350F84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6DB6-E8D0-4B5D-BDCC-A0B342DD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</a:t>
            </a:r>
          </a:p>
          <a:p>
            <a:pPr lvl="1"/>
            <a:r>
              <a:rPr lang="en-US" dirty="0"/>
              <a:t>Explicit representation</a:t>
            </a:r>
          </a:p>
          <a:p>
            <a:pPr lvl="1"/>
            <a:r>
              <a:rPr lang="en-US" dirty="0"/>
              <a:t>Implicit representation</a:t>
            </a:r>
          </a:p>
          <a:p>
            <a:endParaRPr lang="en-US" dirty="0"/>
          </a:p>
          <a:p>
            <a:r>
              <a:rPr lang="en-US" dirty="0"/>
              <a:t>Relational</a:t>
            </a:r>
          </a:p>
          <a:p>
            <a:pPr lvl="1"/>
            <a:r>
              <a:rPr lang="en-US" dirty="0"/>
              <a:t>Affect extraction</a:t>
            </a:r>
          </a:p>
          <a:p>
            <a:pPr lvl="1"/>
            <a:r>
              <a:rPr lang="en-US" dirty="0"/>
              <a:t>Proximity analysis</a:t>
            </a:r>
          </a:p>
          <a:p>
            <a:pPr lvl="1"/>
            <a:r>
              <a:rPr lang="en-US" dirty="0"/>
              <a:t>Cognitive mapping</a:t>
            </a:r>
          </a:p>
        </p:txBody>
      </p:sp>
    </p:spTree>
    <p:extLst>
      <p:ext uri="{BB962C8B-B14F-4D97-AF65-F5344CB8AC3E}">
        <p14:creationId xmlns:p14="http://schemas.microsoft.com/office/powerpoint/2010/main" val="1069844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4475-356E-47F3-A125-135FBAF15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and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950B-53F7-4E88-9E88-E293B2473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Stability</a:t>
            </a:r>
          </a:p>
          <a:p>
            <a:pPr lvl="1"/>
            <a:r>
              <a:rPr lang="en-US" dirty="0"/>
              <a:t>Reproducibility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endParaRPr lang="en-US" dirty="0"/>
          </a:p>
          <a:p>
            <a:r>
              <a:rPr lang="en-US" dirty="0"/>
              <a:t>Validity</a:t>
            </a:r>
          </a:p>
          <a:p>
            <a:pPr lvl="1"/>
            <a:r>
              <a:rPr lang="en-US" dirty="0"/>
              <a:t>Closeness of categories</a:t>
            </a:r>
          </a:p>
          <a:p>
            <a:pPr lvl="1"/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51449225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1038</Words>
  <Application>Microsoft Office PowerPoint</Application>
  <PresentationFormat>On-screen Show (4:3)</PresentationFormat>
  <Paragraphs>568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Avenir LT W01_45 Book1475508</vt:lpstr>
      <vt:lpstr>Gill Sans MT</vt:lpstr>
      <vt:lpstr>Parcel</vt:lpstr>
      <vt:lpstr>PAI 724:  Data Driven Decision making  LAB</vt:lpstr>
      <vt:lpstr>Lecture Topic</vt:lpstr>
      <vt:lpstr>Programing operations for springs</vt:lpstr>
      <vt:lpstr>Concepts relevant for strings</vt:lpstr>
      <vt:lpstr>Concepts relevant for strings</vt:lpstr>
      <vt:lpstr>Concepts relevant for strings</vt:lpstr>
      <vt:lpstr>Concepts relevant for strings</vt:lpstr>
      <vt:lpstr>Code Break</vt:lpstr>
      <vt:lpstr>Concepts relevant for strings</vt:lpstr>
      <vt:lpstr>Concepts relevant for strings</vt:lpstr>
      <vt:lpstr>Code Break</vt:lpstr>
      <vt:lpstr>Concepts relevant for strings</vt:lpstr>
      <vt:lpstr>Concepts relevant for strings</vt:lpstr>
      <vt:lpstr>Concepts relevant for strings</vt:lpstr>
      <vt:lpstr>Concepts relevant for strings</vt:lpstr>
      <vt:lpstr>Code Break</vt:lpstr>
      <vt:lpstr>Concepts relevant for strings</vt:lpstr>
      <vt:lpstr>Concepts relevant for strings</vt:lpstr>
      <vt:lpstr>Concepts relevant for strings</vt:lpstr>
      <vt:lpstr>Code Break</vt:lpstr>
      <vt:lpstr>Using String methods</vt:lpstr>
      <vt:lpstr>Natural Language Processing (NLP)</vt:lpstr>
      <vt:lpstr>PowerPoint Presentation</vt:lpstr>
      <vt:lpstr>PowerPoint Presentation</vt:lpstr>
      <vt:lpstr>PowerPoint Presentation</vt:lpstr>
      <vt:lpstr>PowerPoint Presentation</vt:lpstr>
      <vt:lpstr>Content Analysis</vt:lpstr>
      <vt:lpstr>What is content analysis?</vt:lpstr>
      <vt:lpstr>Uses of content analysis</vt:lpstr>
      <vt:lpstr>Types of Content analysis</vt:lpstr>
      <vt:lpstr>Reliability and validity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 724:  Data Driven Decision making  dr. Saba Siddiki</dc:title>
  <dc:creator>Saba N Siddiki</dc:creator>
  <cp:lastModifiedBy>Graham Ambrose</cp:lastModifiedBy>
  <cp:revision>89</cp:revision>
  <dcterms:created xsi:type="dcterms:W3CDTF">2020-09-27T19:09:25Z</dcterms:created>
  <dcterms:modified xsi:type="dcterms:W3CDTF">2022-10-03T12:55:44Z</dcterms:modified>
</cp:coreProperties>
</file>