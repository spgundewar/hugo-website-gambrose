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63" r:id="rId4"/>
    <p:sldId id="284" r:id="rId5"/>
    <p:sldId id="259" r:id="rId6"/>
    <p:sldId id="285" r:id="rId7"/>
    <p:sldId id="286" r:id="rId8"/>
    <p:sldId id="300" r:id="rId9"/>
    <p:sldId id="287" r:id="rId10"/>
    <p:sldId id="342" r:id="rId11"/>
    <p:sldId id="344" r:id="rId12"/>
    <p:sldId id="345" r:id="rId13"/>
    <p:sldId id="347" r:id="rId14"/>
    <p:sldId id="348" r:id="rId15"/>
    <p:sldId id="301" r:id="rId16"/>
    <p:sldId id="292" r:id="rId17"/>
    <p:sldId id="293" r:id="rId18"/>
    <p:sldId id="294" r:id="rId19"/>
    <p:sldId id="302" r:id="rId20"/>
    <p:sldId id="299" r:id="rId21"/>
    <p:sldId id="328" r:id="rId22"/>
    <p:sldId id="334" r:id="rId23"/>
    <p:sldId id="327" r:id="rId24"/>
    <p:sldId id="335" r:id="rId25"/>
    <p:sldId id="336" r:id="rId26"/>
    <p:sldId id="337" r:id="rId27"/>
    <p:sldId id="338" r:id="rId28"/>
    <p:sldId id="339" r:id="rId29"/>
    <p:sldId id="340" r:id="rId30"/>
    <p:sldId id="341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6005" autoAdjust="0"/>
  </p:normalViewPr>
  <p:slideViewPr>
    <p:cSldViewPr snapToGrid="0">
      <p:cViewPr varScale="1">
        <p:scale>
          <a:sx n="102" d="100"/>
          <a:sy n="102" d="100"/>
        </p:scale>
        <p:origin x="19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86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5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78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8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24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68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50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45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4EFF1E3-19FE-441A-8A1A-45616FFD79CF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67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19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F1E3-19FE-441A-8A1A-45616FFD79CF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92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4EFF1E3-19FE-441A-8A1A-45616FFD79CF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8C7CEC3-539F-42FA-8C7D-0A844FCC3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0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D8AD-9D7A-418E-8E56-D8A7B7907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239" y="2005007"/>
            <a:ext cx="6939520" cy="2847986"/>
          </a:xfrm>
        </p:spPr>
        <p:txBody>
          <a:bodyPr/>
          <a:lstStyle/>
          <a:p>
            <a:r>
              <a:rPr lang="en-US" dirty="0"/>
              <a:t>PAI 724: </a:t>
            </a:r>
            <a:br>
              <a:rPr lang="en-US" dirty="0"/>
            </a:br>
            <a:r>
              <a:rPr lang="en-US" dirty="0"/>
              <a:t>Data Driven Decision making</a:t>
            </a:r>
            <a:br>
              <a:rPr lang="en-US" dirty="0"/>
            </a:br>
            <a:br>
              <a:rPr lang="en-US" dirty="0"/>
            </a:br>
            <a:r>
              <a:rPr lang="en-US" sz="1800" dirty="0"/>
              <a:t>LAB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C42FF27-71D0-4E30-986D-DEF1D3794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1394" y="5618106"/>
            <a:ext cx="5101209" cy="1239894"/>
          </a:xfrm>
        </p:spPr>
        <p:txBody>
          <a:bodyPr/>
          <a:lstStyle/>
          <a:p>
            <a:r>
              <a:rPr lang="en-US" dirty="0"/>
              <a:t>Week 4 Lecture</a:t>
            </a:r>
          </a:p>
          <a:p>
            <a:r>
              <a:rPr lang="en-US" dirty="0"/>
              <a:t>September 26,  2022</a:t>
            </a:r>
          </a:p>
        </p:txBody>
      </p:sp>
    </p:spTree>
    <p:extLst>
      <p:ext uri="{BB962C8B-B14F-4D97-AF65-F5344CB8AC3E}">
        <p14:creationId xmlns:p14="http://schemas.microsoft.com/office/powerpoint/2010/main" val="4715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ED97-FEC2-492C-84EA-4A65C1389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3DEFD-6809-456C-B74F-E4B428971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122" y="3756017"/>
            <a:ext cx="5937755" cy="31019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Iteration</a:t>
            </a:r>
          </a:p>
        </p:txBody>
      </p:sp>
    </p:spTree>
    <p:extLst>
      <p:ext uri="{BB962C8B-B14F-4D97-AF65-F5344CB8AC3E}">
        <p14:creationId xmlns:p14="http://schemas.microsoft.com/office/powerpoint/2010/main" val="179954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66C3-1E09-4346-B05E-12E13A8F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20BB3-BE0E-4F77-896C-735431F85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045" y="2638045"/>
            <a:ext cx="5937755" cy="4058030"/>
          </a:xfrm>
        </p:spPr>
        <p:txBody>
          <a:bodyPr>
            <a:normAutofit/>
          </a:bodyPr>
          <a:lstStyle/>
          <a:p>
            <a:r>
              <a:rPr lang="en-US" dirty="0"/>
              <a:t>Programming logic</a:t>
            </a:r>
          </a:p>
          <a:p>
            <a:pPr lvl="1"/>
            <a:r>
              <a:rPr lang="en-US" u="sng" dirty="0"/>
              <a:t>Sequential</a:t>
            </a:r>
            <a:r>
              <a:rPr lang="en-US" dirty="0"/>
              <a:t>: Perform statements one after another in order</a:t>
            </a:r>
          </a:p>
          <a:p>
            <a:pPr lvl="1"/>
            <a:r>
              <a:rPr lang="en-US" u="sng" dirty="0"/>
              <a:t>Conditional execution</a:t>
            </a:r>
            <a:r>
              <a:rPr lang="en-US" dirty="0"/>
              <a:t>: Check for certain conditions and then execute or skip a sequence of statements</a:t>
            </a:r>
          </a:p>
          <a:p>
            <a:pPr lvl="1"/>
            <a:r>
              <a:rPr lang="en-US" u="sng" dirty="0"/>
              <a:t>Repeated execution</a:t>
            </a:r>
            <a:r>
              <a:rPr lang="en-US" dirty="0"/>
              <a:t>: Perform some set of statements repeatedly, usually with some variation</a:t>
            </a:r>
          </a:p>
          <a:p>
            <a:pPr lvl="1"/>
            <a:r>
              <a:rPr lang="en-US" u="sng" dirty="0"/>
              <a:t>Reuse</a:t>
            </a:r>
            <a:r>
              <a:rPr lang="en-US" dirty="0"/>
              <a:t>:  Write a set of instructions once and give them a name then reuse those instructions as needed throughout your program 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92023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66C3-1E09-4346-B05E-12E13A8F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20BB3-BE0E-4F77-896C-735431F85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045" y="2638045"/>
            <a:ext cx="5937755" cy="4058030"/>
          </a:xfrm>
        </p:spPr>
        <p:txBody>
          <a:bodyPr>
            <a:normAutofit/>
          </a:bodyPr>
          <a:lstStyle/>
          <a:p>
            <a:r>
              <a:rPr lang="en-US" dirty="0"/>
              <a:t>Programming logic</a:t>
            </a:r>
          </a:p>
          <a:p>
            <a:pPr lvl="1"/>
            <a:r>
              <a:rPr lang="en-US" u="sng" dirty="0"/>
              <a:t>Sequential</a:t>
            </a:r>
            <a:r>
              <a:rPr lang="en-US" dirty="0"/>
              <a:t>: Perform statements one after another in order</a:t>
            </a:r>
          </a:p>
          <a:p>
            <a:pPr lvl="1"/>
            <a:r>
              <a:rPr lang="en-US" u="sng" dirty="0"/>
              <a:t>Conditional execution</a:t>
            </a:r>
            <a:r>
              <a:rPr lang="en-US" dirty="0"/>
              <a:t>: Check for certain conditions and then execute or skip a sequence of statements</a:t>
            </a:r>
          </a:p>
          <a:p>
            <a:pPr lvl="1"/>
            <a:r>
              <a:rPr lang="en-US" u="sng" dirty="0">
                <a:highlight>
                  <a:srgbClr val="00FFFF"/>
                </a:highlight>
              </a:rPr>
              <a:t>Repeated execution</a:t>
            </a:r>
            <a:r>
              <a:rPr lang="en-US" dirty="0">
                <a:highlight>
                  <a:srgbClr val="00FFFF"/>
                </a:highlight>
              </a:rPr>
              <a:t>: Perform some set of statements repeatedly, usually with some variation</a:t>
            </a:r>
          </a:p>
          <a:p>
            <a:pPr lvl="1"/>
            <a:r>
              <a:rPr lang="en-US" u="sng" dirty="0"/>
              <a:t>Reuse</a:t>
            </a:r>
            <a:r>
              <a:rPr lang="en-US" dirty="0"/>
              <a:t>:  Write a set of instructions once and give them a name then reuse those instructions as needed throughout your program 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180139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154A-B1B7-40C7-AE18-3E884346D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282828"/>
                </a:solidFill>
                <a:latin typeface="Proxima Nova"/>
              </a:rPr>
              <a:t>Iteration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2880E-9DBB-479E-A360-F97D26F1B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 repetitive tasks</a:t>
            </a:r>
          </a:p>
          <a:p>
            <a:r>
              <a:rPr lang="en-US" dirty="0"/>
              <a:t>Update values based on previously assigned or generated ones</a:t>
            </a:r>
          </a:p>
          <a:p>
            <a:r>
              <a:rPr lang="en-US" dirty="0"/>
              <a:t>Draws on two particular commands: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while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for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849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8A9B2-F468-4371-97B8-B3ECD33A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3B079-6E74-46D0-8DCB-2FBA80D7F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046" y="2638045"/>
            <a:ext cx="3849532" cy="3101983"/>
          </a:xfrm>
        </p:spPr>
        <p:txBody>
          <a:bodyPr/>
          <a:lstStyle/>
          <a:p>
            <a:r>
              <a:rPr lang="en-US" dirty="0"/>
              <a:t>While a particular condition holds, execute a set of instructions:</a:t>
            </a:r>
          </a:p>
          <a:p>
            <a:pPr lvl="1"/>
            <a:r>
              <a:rPr lang="en-US" dirty="0"/>
              <a:t>Evaluate the condition, yielding True or False interpretation by Python</a:t>
            </a:r>
          </a:p>
          <a:p>
            <a:pPr lvl="1"/>
            <a:r>
              <a:rPr lang="en-US" dirty="0"/>
              <a:t>If the condition is False, exit the while statement and continue execution at the next statement. </a:t>
            </a:r>
          </a:p>
          <a:p>
            <a:pPr lvl="1"/>
            <a:r>
              <a:rPr lang="en-US" dirty="0"/>
              <a:t>If the condition is true, execute the body and then go back to revaluate the condition statement.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1DDC6-55C9-4F77-9153-F2C9707C6BA6}"/>
              </a:ext>
            </a:extLst>
          </p:cNvPr>
          <p:cNvSpPr txBox="1"/>
          <p:nvPr/>
        </p:nvSpPr>
        <p:spPr>
          <a:xfrm>
            <a:off x="5619964" y="2757875"/>
            <a:ext cx="3102796" cy="286232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General format:</a:t>
            </a:r>
          </a:p>
          <a:p>
            <a:endParaRPr lang="en-US" u="sng" dirty="0"/>
          </a:p>
          <a:p>
            <a:r>
              <a:rPr lang="en-US" dirty="0"/>
              <a:t>Variable and value assignment</a:t>
            </a:r>
          </a:p>
          <a:p>
            <a:r>
              <a:rPr lang="en-US" dirty="0"/>
              <a:t>Condition statement:</a:t>
            </a:r>
          </a:p>
          <a:p>
            <a:r>
              <a:rPr lang="en-US" dirty="0"/>
              <a:t>	statement</a:t>
            </a:r>
          </a:p>
          <a:p>
            <a:r>
              <a:rPr lang="en-US" dirty="0"/>
              <a:t>	statement</a:t>
            </a:r>
          </a:p>
          <a:p>
            <a:r>
              <a:rPr lang="en-US" dirty="0"/>
              <a:t>	…</a:t>
            </a:r>
          </a:p>
          <a:p>
            <a:r>
              <a:rPr lang="en-US" dirty="0"/>
              <a:t>Subsequent statement</a:t>
            </a:r>
          </a:p>
          <a:p>
            <a:endParaRPr lang="en-US" u="sng" dirty="0"/>
          </a:p>
          <a:p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647813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8A9B2-F468-4371-97B8-B3ECD33A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3B079-6E74-46D0-8DCB-2FBA80D7F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046" y="2638045"/>
            <a:ext cx="3849532" cy="3101983"/>
          </a:xfrm>
        </p:spPr>
        <p:txBody>
          <a:bodyPr/>
          <a:lstStyle/>
          <a:p>
            <a:r>
              <a:rPr lang="en-US" dirty="0"/>
              <a:t>While a particular condition holds, execute a set of instructions:</a:t>
            </a:r>
          </a:p>
          <a:p>
            <a:pPr lvl="1"/>
            <a:r>
              <a:rPr lang="en-US" dirty="0"/>
              <a:t>Evaluate the condition, yielding True or False interpretation by Python</a:t>
            </a:r>
          </a:p>
          <a:p>
            <a:pPr lvl="1"/>
            <a:r>
              <a:rPr lang="en-US" dirty="0"/>
              <a:t>If the condition is False, exit the while statement and continue execution at the next statement. </a:t>
            </a:r>
          </a:p>
          <a:p>
            <a:pPr lvl="1"/>
            <a:r>
              <a:rPr lang="en-US" dirty="0"/>
              <a:t>If the condition is true, execute the body and then go back to revaluate the condition statement.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1DDC6-55C9-4F77-9153-F2C9707C6BA6}"/>
              </a:ext>
            </a:extLst>
          </p:cNvPr>
          <p:cNvSpPr txBox="1"/>
          <p:nvPr/>
        </p:nvSpPr>
        <p:spPr>
          <a:xfrm>
            <a:off x="5619964" y="2757875"/>
            <a:ext cx="3102796" cy="286232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General format:</a:t>
            </a:r>
          </a:p>
          <a:p>
            <a:endParaRPr lang="en-US" u="sng" dirty="0"/>
          </a:p>
          <a:p>
            <a:r>
              <a:rPr lang="en-US" dirty="0"/>
              <a:t>Variable and value assignment</a:t>
            </a:r>
          </a:p>
          <a:p>
            <a:r>
              <a:rPr lang="en-US" dirty="0"/>
              <a:t>Condition statement:</a:t>
            </a:r>
          </a:p>
          <a:p>
            <a:r>
              <a:rPr lang="en-US" dirty="0"/>
              <a:t>	statement</a:t>
            </a:r>
          </a:p>
          <a:p>
            <a:r>
              <a:rPr lang="en-US" dirty="0"/>
              <a:t>	statement</a:t>
            </a:r>
          </a:p>
          <a:p>
            <a:r>
              <a:rPr lang="en-US" dirty="0"/>
              <a:t>	…</a:t>
            </a:r>
          </a:p>
          <a:p>
            <a:r>
              <a:rPr lang="en-US" dirty="0"/>
              <a:t>Subsequent statement</a:t>
            </a:r>
          </a:p>
          <a:p>
            <a:endParaRPr lang="en-US" u="sng" dirty="0"/>
          </a:p>
          <a:p>
            <a:endParaRPr lang="en-US" u="sng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828EF8-F65A-4735-8B51-3E1A05AB2938}"/>
              </a:ext>
            </a:extLst>
          </p:cNvPr>
          <p:cNvCxnSpPr>
            <a:cxnSpLocks/>
          </p:cNvCxnSpPr>
          <p:nvPr/>
        </p:nvCxnSpPr>
        <p:spPr>
          <a:xfrm flipH="1" flipV="1">
            <a:off x="7715892" y="3945276"/>
            <a:ext cx="328773" cy="349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4B3E85-0876-497C-99B2-91ABDCE06B6F}"/>
              </a:ext>
            </a:extLst>
          </p:cNvPr>
          <p:cNvCxnSpPr>
            <a:cxnSpLocks/>
          </p:cNvCxnSpPr>
          <p:nvPr/>
        </p:nvCxnSpPr>
        <p:spPr>
          <a:xfrm>
            <a:off x="5455578" y="4058292"/>
            <a:ext cx="585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113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A6F8-A766-49F8-A7FF-58F73B5F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Break</a:t>
            </a:r>
          </a:p>
        </p:txBody>
      </p:sp>
    </p:spTree>
    <p:extLst>
      <p:ext uri="{BB962C8B-B14F-4D97-AF65-F5344CB8AC3E}">
        <p14:creationId xmlns:p14="http://schemas.microsoft.com/office/powerpoint/2010/main" val="3669239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A630-9D1E-4C4D-A8A4-4A970C91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A86AD4-80B8-4085-BD28-C46A0F760E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057"/>
          <a:stretch/>
        </p:blipFill>
        <p:spPr>
          <a:xfrm>
            <a:off x="544455" y="2842319"/>
            <a:ext cx="5836406" cy="185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988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A630-9D1E-4C4D-A8A4-4A970C91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A86AD4-80B8-4085-BD28-C46A0F760E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057"/>
          <a:stretch/>
        </p:blipFill>
        <p:spPr>
          <a:xfrm>
            <a:off x="544455" y="2842319"/>
            <a:ext cx="5836406" cy="18561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0B9923-6BBF-5158-214E-8DD1DCCB9867}"/>
              </a:ext>
            </a:extLst>
          </p:cNvPr>
          <p:cNvSpPr/>
          <p:nvPr/>
        </p:nvSpPr>
        <p:spPr>
          <a:xfrm>
            <a:off x="2058937" y="2951143"/>
            <a:ext cx="247535" cy="26972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40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BF2DE0-7671-F9D3-C0DA-5C6B688958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528"/>
          <a:stretch/>
        </p:blipFill>
        <p:spPr>
          <a:xfrm>
            <a:off x="544455" y="2842319"/>
            <a:ext cx="5836406" cy="29565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9CA630-9D1E-4C4D-A8A4-4A970C91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0B9923-6BBF-5158-214E-8DD1DCCB9867}"/>
              </a:ext>
            </a:extLst>
          </p:cNvPr>
          <p:cNvSpPr/>
          <p:nvPr/>
        </p:nvSpPr>
        <p:spPr>
          <a:xfrm>
            <a:off x="2058937" y="2951143"/>
            <a:ext cx="247535" cy="26972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7CB9F-BF2C-17BD-8DF0-2B6CCC44D1AE}"/>
              </a:ext>
            </a:extLst>
          </p:cNvPr>
          <p:cNvSpPr/>
          <p:nvPr/>
        </p:nvSpPr>
        <p:spPr>
          <a:xfrm>
            <a:off x="3938387" y="3260114"/>
            <a:ext cx="896502" cy="337769"/>
          </a:xfrm>
          <a:prstGeom prst="rect">
            <a:avLst/>
          </a:prstGeom>
          <a:solidFill>
            <a:srgbClr val="282C34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A803940B-F3B4-787D-5986-6813ECC651B6}"/>
              </a:ext>
            </a:extLst>
          </p:cNvPr>
          <p:cNvSpPr/>
          <p:nvPr/>
        </p:nvSpPr>
        <p:spPr>
          <a:xfrm>
            <a:off x="2606722" y="3373370"/>
            <a:ext cx="1774209" cy="434355"/>
          </a:xfrm>
          <a:prstGeom prst="arc">
            <a:avLst>
              <a:gd name="adj1" fmla="val 21576995"/>
              <a:gd name="adj2" fmla="val 5735775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64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A630-9D1E-4C4D-A8A4-4A970C91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A86AD4-80B8-4085-BD28-C46A0F760E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528"/>
          <a:stretch/>
        </p:blipFill>
        <p:spPr>
          <a:xfrm>
            <a:off x="544455" y="2842319"/>
            <a:ext cx="5836406" cy="295650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0B9923-6BBF-5158-214E-8DD1DCCB9867}"/>
              </a:ext>
            </a:extLst>
          </p:cNvPr>
          <p:cNvSpPr/>
          <p:nvPr/>
        </p:nvSpPr>
        <p:spPr>
          <a:xfrm>
            <a:off x="2058937" y="2951143"/>
            <a:ext cx="247535" cy="26972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7CB9F-BF2C-17BD-8DF0-2B6CCC44D1AE}"/>
              </a:ext>
            </a:extLst>
          </p:cNvPr>
          <p:cNvSpPr/>
          <p:nvPr/>
        </p:nvSpPr>
        <p:spPr>
          <a:xfrm>
            <a:off x="3938387" y="3260114"/>
            <a:ext cx="896502" cy="337769"/>
          </a:xfrm>
          <a:prstGeom prst="rect">
            <a:avLst/>
          </a:prstGeom>
          <a:solidFill>
            <a:srgbClr val="282C34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A803940B-F3B4-787D-5986-6813ECC651B6}"/>
              </a:ext>
            </a:extLst>
          </p:cNvPr>
          <p:cNvSpPr/>
          <p:nvPr/>
        </p:nvSpPr>
        <p:spPr>
          <a:xfrm>
            <a:off x="2606722" y="3373370"/>
            <a:ext cx="1774209" cy="434355"/>
          </a:xfrm>
          <a:prstGeom prst="arc">
            <a:avLst>
              <a:gd name="adj1" fmla="val 21576995"/>
              <a:gd name="adj2" fmla="val 5735775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E72B5-8BDB-C12E-6791-7AE514AC7C27}"/>
              </a:ext>
            </a:extLst>
          </p:cNvPr>
          <p:cNvSpPr txBox="1"/>
          <p:nvPr/>
        </p:nvSpPr>
        <p:spPr>
          <a:xfrm>
            <a:off x="6514314" y="2842318"/>
            <a:ext cx="25210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first iteration:</a:t>
            </a:r>
          </a:p>
          <a:p>
            <a:endParaRPr lang="en-US" dirty="0"/>
          </a:p>
          <a:p>
            <a:r>
              <a:rPr lang="en-US" dirty="0"/>
              <a:t>complete the function:</a:t>
            </a:r>
          </a:p>
          <a:p>
            <a:endParaRPr lang="en-US" dirty="0"/>
          </a:p>
          <a:p>
            <a:r>
              <a:rPr lang="en-US" dirty="0"/>
              <a:t>number = number + 1</a:t>
            </a:r>
          </a:p>
          <a:p>
            <a:r>
              <a:rPr lang="en-US" dirty="0"/>
              <a:t>2          =  1          + 1</a:t>
            </a:r>
          </a:p>
          <a:p>
            <a:endParaRPr lang="en-US" dirty="0"/>
          </a:p>
          <a:p>
            <a:r>
              <a:rPr lang="en-US" dirty="0"/>
              <a:t>number was = 1</a:t>
            </a:r>
          </a:p>
          <a:p>
            <a:r>
              <a:rPr lang="en-US" dirty="0"/>
              <a:t>number now = 2</a:t>
            </a:r>
          </a:p>
        </p:txBody>
      </p:sp>
    </p:spTree>
    <p:extLst>
      <p:ext uri="{BB962C8B-B14F-4D97-AF65-F5344CB8AC3E}">
        <p14:creationId xmlns:p14="http://schemas.microsoft.com/office/powerpoint/2010/main" val="1155427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A630-9D1E-4C4D-A8A4-4A970C91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A86AD4-80B8-4085-BD28-C46A0F760E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253"/>
          <a:stretch/>
        </p:blipFill>
        <p:spPr>
          <a:xfrm>
            <a:off x="544455" y="2842318"/>
            <a:ext cx="5836406" cy="325368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67CB9F-BF2C-17BD-8DF0-2B6CCC44D1AE}"/>
              </a:ext>
            </a:extLst>
          </p:cNvPr>
          <p:cNvSpPr/>
          <p:nvPr/>
        </p:nvSpPr>
        <p:spPr>
          <a:xfrm>
            <a:off x="3938387" y="3260114"/>
            <a:ext cx="896502" cy="337769"/>
          </a:xfrm>
          <a:prstGeom prst="rect">
            <a:avLst/>
          </a:prstGeom>
          <a:solidFill>
            <a:srgbClr val="282C34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A803940B-F3B4-787D-5986-6813ECC651B6}"/>
              </a:ext>
            </a:extLst>
          </p:cNvPr>
          <p:cNvSpPr/>
          <p:nvPr/>
        </p:nvSpPr>
        <p:spPr>
          <a:xfrm>
            <a:off x="2606722" y="3373370"/>
            <a:ext cx="1774209" cy="434355"/>
          </a:xfrm>
          <a:prstGeom prst="arc">
            <a:avLst>
              <a:gd name="adj1" fmla="val 21576995"/>
              <a:gd name="adj2" fmla="val 5735775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E72B5-8BDB-C12E-6791-7AE514AC7C27}"/>
              </a:ext>
            </a:extLst>
          </p:cNvPr>
          <p:cNvSpPr txBox="1"/>
          <p:nvPr/>
        </p:nvSpPr>
        <p:spPr>
          <a:xfrm>
            <a:off x="6514314" y="2842318"/>
            <a:ext cx="25210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second iteration:</a:t>
            </a:r>
          </a:p>
          <a:p>
            <a:endParaRPr lang="en-US" dirty="0"/>
          </a:p>
          <a:p>
            <a:r>
              <a:rPr lang="en-US" dirty="0"/>
              <a:t>complete the function:</a:t>
            </a:r>
          </a:p>
          <a:p>
            <a:endParaRPr lang="en-US" dirty="0"/>
          </a:p>
          <a:p>
            <a:r>
              <a:rPr lang="en-US" dirty="0"/>
              <a:t>number = number + 1</a:t>
            </a:r>
          </a:p>
          <a:p>
            <a:r>
              <a:rPr lang="en-US" dirty="0"/>
              <a:t>3          =  2          + 1</a:t>
            </a:r>
          </a:p>
          <a:p>
            <a:endParaRPr lang="en-US" dirty="0"/>
          </a:p>
          <a:p>
            <a:r>
              <a:rPr lang="en-US" dirty="0"/>
              <a:t>number was = 2</a:t>
            </a:r>
          </a:p>
          <a:p>
            <a:r>
              <a:rPr lang="en-US" dirty="0"/>
              <a:t>number now = 3</a:t>
            </a:r>
          </a:p>
          <a:p>
            <a:endParaRPr lang="en-US" dirty="0"/>
          </a:p>
          <a:p>
            <a:r>
              <a:rPr lang="en-US" dirty="0"/>
              <a:t>…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FD04F0-45E6-6982-4172-1E1BBA815191}"/>
              </a:ext>
            </a:extLst>
          </p:cNvPr>
          <p:cNvSpPr/>
          <p:nvPr/>
        </p:nvSpPr>
        <p:spPr>
          <a:xfrm>
            <a:off x="2079554" y="2952285"/>
            <a:ext cx="247535" cy="269729"/>
          </a:xfrm>
          <a:prstGeom prst="rect">
            <a:avLst/>
          </a:prstGeom>
          <a:solidFill>
            <a:schemeClr val="tx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68762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A630-9D1E-4C4D-A8A4-4A970C91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A86AD4-80B8-4085-BD28-C46A0F760E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253"/>
          <a:stretch/>
        </p:blipFill>
        <p:spPr>
          <a:xfrm>
            <a:off x="544455" y="2842318"/>
            <a:ext cx="5836406" cy="325368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67CB9F-BF2C-17BD-8DF0-2B6CCC44D1AE}"/>
              </a:ext>
            </a:extLst>
          </p:cNvPr>
          <p:cNvSpPr/>
          <p:nvPr/>
        </p:nvSpPr>
        <p:spPr>
          <a:xfrm>
            <a:off x="3938387" y="3260114"/>
            <a:ext cx="896502" cy="337769"/>
          </a:xfrm>
          <a:prstGeom prst="rect">
            <a:avLst/>
          </a:prstGeom>
          <a:solidFill>
            <a:srgbClr val="282C34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A803940B-F3B4-787D-5986-6813ECC651B6}"/>
              </a:ext>
            </a:extLst>
          </p:cNvPr>
          <p:cNvSpPr/>
          <p:nvPr/>
        </p:nvSpPr>
        <p:spPr>
          <a:xfrm>
            <a:off x="3440784" y="3429000"/>
            <a:ext cx="2846893" cy="1425804"/>
          </a:xfrm>
          <a:prstGeom prst="arc">
            <a:avLst>
              <a:gd name="adj1" fmla="val 16164084"/>
              <a:gd name="adj2" fmla="val 833932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E72B5-8BDB-C12E-6791-7AE514AC7C27}"/>
              </a:ext>
            </a:extLst>
          </p:cNvPr>
          <p:cNvSpPr txBox="1"/>
          <p:nvPr/>
        </p:nvSpPr>
        <p:spPr>
          <a:xfrm>
            <a:off x="6514314" y="2842318"/>
            <a:ext cx="25210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first iteration variable in our list :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FD04F0-45E6-6982-4172-1E1BBA815191}"/>
              </a:ext>
            </a:extLst>
          </p:cNvPr>
          <p:cNvSpPr/>
          <p:nvPr/>
        </p:nvSpPr>
        <p:spPr>
          <a:xfrm>
            <a:off x="2079554" y="2952285"/>
            <a:ext cx="527168" cy="269729"/>
          </a:xfrm>
          <a:prstGeom prst="rect">
            <a:avLst/>
          </a:prstGeom>
          <a:solidFill>
            <a:schemeClr val="tx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4B2341-DBB6-CBA2-EF7B-B0EA4C801B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304" b="5857"/>
          <a:stretch/>
        </p:blipFill>
        <p:spPr>
          <a:xfrm>
            <a:off x="544455" y="6410054"/>
            <a:ext cx="5836406" cy="2726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9F40C3-4C3D-BD41-0911-9F6AF3F8E2F6}"/>
              </a:ext>
            </a:extLst>
          </p:cNvPr>
          <p:cNvSpPr txBox="1"/>
          <p:nvPr/>
        </p:nvSpPr>
        <p:spPr>
          <a:xfrm>
            <a:off x="553882" y="6026924"/>
            <a:ext cx="2521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646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A6F8-A766-49F8-A7FF-58F73B5F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Break</a:t>
            </a:r>
          </a:p>
        </p:txBody>
      </p:sp>
    </p:spTree>
    <p:extLst>
      <p:ext uri="{BB962C8B-B14F-4D97-AF65-F5344CB8AC3E}">
        <p14:creationId xmlns:p14="http://schemas.microsoft.com/office/powerpoint/2010/main" val="3232825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880C6-A018-482E-BAF1-BE1F71139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9DE6-3C9E-43A9-A67D-9A2DDC482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>
                <a:highlight>
                  <a:srgbClr val="C0C0C0"/>
                </a:highlight>
              </a:rPr>
              <a:t>while</a:t>
            </a:r>
            <a:r>
              <a:rPr lang="en-US" dirty="0"/>
              <a:t> command allows you repeatedly execute a set of statements under different conditions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dirty="0">
                <a:highlight>
                  <a:srgbClr val="C0C0C0"/>
                </a:highlight>
              </a:rPr>
              <a:t>for</a:t>
            </a:r>
            <a:r>
              <a:rPr lang="en-US" dirty="0"/>
              <a:t> command allows you to execute a set of statements(i.e., loop through) for a set of things – words, lines in a file, list of numbers, etc.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510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3EC79-BD26-4955-8000-561F7101C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DC35-7EDF-4F5B-9525-18A819041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045" y="2638045"/>
            <a:ext cx="5937755" cy="3690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General format: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/>
              <a:t>variable = [list item 1, list item 2, list item 3…]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itervar</a:t>
            </a:r>
            <a:r>
              <a:rPr lang="en-US" dirty="0"/>
              <a:t> in variable:</a:t>
            </a:r>
          </a:p>
          <a:p>
            <a:pPr marL="0" indent="0">
              <a:buNone/>
            </a:pPr>
            <a:r>
              <a:rPr lang="en-US" dirty="0"/>
              <a:t>     statement</a:t>
            </a:r>
          </a:p>
          <a:p>
            <a:pPr marL="0" indent="0">
              <a:buNone/>
            </a:pPr>
            <a:r>
              <a:rPr lang="en-US" dirty="0"/>
              <a:t>     statement</a:t>
            </a:r>
          </a:p>
          <a:p>
            <a:pPr marL="0" indent="0">
              <a:buNone/>
            </a:pPr>
            <a:r>
              <a:rPr lang="en-US" dirty="0"/>
              <a:t>     …</a:t>
            </a:r>
          </a:p>
          <a:p>
            <a:pPr marL="0" indent="0">
              <a:buNone/>
            </a:pPr>
            <a:r>
              <a:rPr lang="en-US" dirty="0"/>
              <a:t>statement</a:t>
            </a:r>
          </a:p>
          <a:p>
            <a:pPr marL="0" indent="0"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464295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3EC79-BD26-4955-8000-561F7101C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DC35-7EDF-4F5B-9525-18A819041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045" y="2638045"/>
            <a:ext cx="5937755" cy="3690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General format: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/>
              <a:t>variable = [list item 1, list item 2, list item 3…]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itervar</a:t>
            </a:r>
            <a:r>
              <a:rPr lang="en-US" dirty="0"/>
              <a:t> in variable:</a:t>
            </a:r>
          </a:p>
          <a:p>
            <a:pPr marL="0" indent="0">
              <a:buNone/>
            </a:pPr>
            <a:r>
              <a:rPr lang="en-US" dirty="0"/>
              <a:t>     statement</a:t>
            </a:r>
          </a:p>
          <a:p>
            <a:pPr marL="0" indent="0">
              <a:buNone/>
            </a:pPr>
            <a:r>
              <a:rPr lang="en-US" dirty="0"/>
              <a:t>     statement</a:t>
            </a:r>
          </a:p>
          <a:p>
            <a:pPr marL="0" indent="0">
              <a:buNone/>
            </a:pPr>
            <a:r>
              <a:rPr lang="en-US" dirty="0"/>
              <a:t>     …</a:t>
            </a:r>
          </a:p>
          <a:p>
            <a:pPr marL="0" indent="0">
              <a:buNone/>
            </a:pPr>
            <a:r>
              <a:rPr lang="en-US" dirty="0"/>
              <a:t>statement</a:t>
            </a:r>
          </a:p>
          <a:p>
            <a:pPr marL="0" indent="0">
              <a:buNone/>
            </a:pPr>
            <a:endParaRPr lang="en-US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B0D6A94-3760-46CF-852A-5EFFBC97ADF9}"/>
              </a:ext>
            </a:extLst>
          </p:cNvPr>
          <p:cNvCxnSpPr>
            <a:cxnSpLocks/>
          </p:cNvCxnSpPr>
          <p:nvPr/>
        </p:nvCxnSpPr>
        <p:spPr>
          <a:xfrm flipV="1">
            <a:off x="1212351" y="4212404"/>
            <a:ext cx="760287" cy="42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54B826-B2F7-4319-BE78-D6B4B588D17C}"/>
              </a:ext>
            </a:extLst>
          </p:cNvPr>
          <p:cNvCxnSpPr>
            <a:cxnSpLocks/>
          </p:cNvCxnSpPr>
          <p:nvPr/>
        </p:nvCxnSpPr>
        <p:spPr>
          <a:xfrm>
            <a:off x="1212351" y="4869950"/>
            <a:ext cx="7602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E604833-8494-4348-8D3F-F5DBD38953B2}"/>
              </a:ext>
            </a:extLst>
          </p:cNvPr>
          <p:cNvCxnSpPr>
            <a:cxnSpLocks/>
          </p:cNvCxnSpPr>
          <p:nvPr/>
        </p:nvCxnSpPr>
        <p:spPr>
          <a:xfrm flipH="1">
            <a:off x="3287730" y="4037744"/>
            <a:ext cx="8219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C9D796-13A8-4CBC-BA74-A9B27753A1D0}"/>
              </a:ext>
            </a:extLst>
          </p:cNvPr>
          <p:cNvCxnSpPr>
            <a:cxnSpLocks/>
          </p:cNvCxnSpPr>
          <p:nvPr/>
        </p:nvCxnSpPr>
        <p:spPr>
          <a:xfrm>
            <a:off x="934948" y="5650786"/>
            <a:ext cx="6575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114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A6F8-A766-49F8-A7FF-58F73B5F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Break</a:t>
            </a:r>
          </a:p>
        </p:txBody>
      </p:sp>
    </p:spTree>
    <p:extLst>
      <p:ext uri="{BB962C8B-B14F-4D97-AF65-F5344CB8AC3E}">
        <p14:creationId xmlns:p14="http://schemas.microsoft.com/office/powerpoint/2010/main" val="1249147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8CED9-3BC4-4C73-975F-0032AE97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the loops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D6EA0-1FF5-48CB-81C6-B5EB988B9C43}"/>
              </a:ext>
            </a:extLst>
          </p:cNvPr>
          <p:cNvSpPr txBox="1"/>
          <p:nvPr/>
        </p:nvSpPr>
        <p:spPr>
          <a:xfrm>
            <a:off x="5617968" y="3094022"/>
            <a:ext cx="2640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this code,</a:t>
            </a:r>
          </a:p>
          <a:p>
            <a:r>
              <a:rPr lang="en-US" dirty="0"/>
              <a:t>what are we conceptually asking Python to do step-by-step?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0CC063-3B13-4DF5-92A2-BEBFDB271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50" y="2818847"/>
            <a:ext cx="4902162" cy="198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846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6536B39-F91D-4B7A-A178-525AA7ED0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50" y="2818847"/>
            <a:ext cx="4902162" cy="19820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B8C549-A0D7-46C1-B0B4-DD7670B52AEF}"/>
              </a:ext>
            </a:extLst>
          </p:cNvPr>
          <p:cNvSpPr txBox="1"/>
          <p:nvPr/>
        </p:nvSpPr>
        <p:spPr>
          <a:xfrm>
            <a:off x="246984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ADDA2E-F028-4225-B03C-B608507086C3}"/>
              </a:ext>
            </a:extLst>
          </p:cNvPr>
          <p:cNvSpPr txBox="1"/>
          <p:nvPr/>
        </p:nvSpPr>
        <p:spPr>
          <a:xfrm>
            <a:off x="2862861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FDE935-C43F-4BA7-831B-725B02D4BF42}"/>
              </a:ext>
            </a:extLst>
          </p:cNvPr>
          <p:cNvSpPr txBox="1"/>
          <p:nvPr/>
        </p:nvSpPr>
        <p:spPr>
          <a:xfrm>
            <a:off x="330550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FA834B-A5F8-44FF-8D4E-BF1BB8D216DA}"/>
              </a:ext>
            </a:extLst>
          </p:cNvPr>
          <p:cNvSpPr txBox="1"/>
          <p:nvPr/>
        </p:nvSpPr>
        <p:spPr>
          <a:xfrm>
            <a:off x="3863113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57FFCD-F6ED-460D-B714-5C8CABC729C1}"/>
              </a:ext>
            </a:extLst>
          </p:cNvPr>
          <p:cNvSpPr txBox="1"/>
          <p:nvPr/>
        </p:nvSpPr>
        <p:spPr>
          <a:xfrm>
            <a:off x="430372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DFB50A-A38D-472C-A61A-AE19E4A0FB63}"/>
              </a:ext>
            </a:extLst>
          </p:cNvPr>
          <p:cNvSpPr txBox="1"/>
          <p:nvPr/>
        </p:nvSpPr>
        <p:spPr>
          <a:xfrm>
            <a:off x="455043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8CED9-3BC4-4C73-975F-0032AE97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the loops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D6EA0-1FF5-48CB-81C6-B5EB988B9C43}"/>
              </a:ext>
            </a:extLst>
          </p:cNvPr>
          <p:cNvSpPr txBox="1"/>
          <p:nvPr/>
        </p:nvSpPr>
        <p:spPr>
          <a:xfrm>
            <a:off x="5699450" y="3428999"/>
            <a:ext cx="2640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First, we have a list of six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7BFF23-4B21-49EA-BAF3-A2AB5E62D563}"/>
              </a:ext>
            </a:extLst>
          </p:cNvPr>
          <p:cNvSpPr/>
          <p:nvPr/>
        </p:nvSpPr>
        <p:spPr>
          <a:xfrm>
            <a:off x="2301492" y="2833604"/>
            <a:ext cx="2699716" cy="394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31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FA4D37F-9677-4F75-9EDA-C9BC24321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50" y="2818847"/>
            <a:ext cx="4902162" cy="19820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833D9A3-9968-4248-8CF7-D4DDB8531AB7}"/>
              </a:ext>
            </a:extLst>
          </p:cNvPr>
          <p:cNvSpPr txBox="1"/>
          <p:nvPr/>
        </p:nvSpPr>
        <p:spPr>
          <a:xfrm>
            <a:off x="246984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11AE61-80F5-4931-AFA9-2B5244738667}"/>
              </a:ext>
            </a:extLst>
          </p:cNvPr>
          <p:cNvSpPr txBox="1"/>
          <p:nvPr/>
        </p:nvSpPr>
        <p:spPr>
          <a:xfrm>
            <a:off x="2862861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E18A11-BFC7-4816-9900-1F095E4F3926}"/>
              </a:ext>
            </a:extLst>
          </p:cNvPr>
          <p:cNvSpPr txBox="1"/>
          <p:nvPr/>
        </p:nvSpPr>
        <p:spPr>
          <a:xfrm>
            <a:off x="330550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BFE63C-15F7-4A08-BD8B-7B1585DAC001}"/>
              </a:ext>
            </a:extLst>
          </p:cNvPr>
          <p:cNvSpPr txBox="1"/>
          <p:nvPr/>
        </p:nvSpPr>
        <p:spPr>
          <a:xfrm>
            <a:off x="3863113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29C8E4-2FBB-4453-BDF2-487A2CBC7EC8}"/>
              </a:ext>
            </a:extLst>
          </p:cNvPr>
          <p:cNvSpPr txBox="1"/>
          <p:nvPr/>
        </p:nvSpPr>
        <p:spPr>
          <a:xfrm>
            <a:off x="430372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5BA95A-6406-4247-8C41-9B986762F117}"/>
              </a:ext>
            </a:extLst>
          </p:cNvPr>
          <p:cNvSpPr txBox="1"/>
          <p:nvPr/>
        </p:nvSpPr>
        <p:spPr>
          <a:xfrm>
            <a:off x="455043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8CED9-3BC4-4C73-975F-0032AE97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the loops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D6EA0-1FF5-48CB-81C6-B5EB988B9C43}"/>
              </a:ext>
            </a:extLst>
          </p:cNvPr>
          <p:cNvSpPr txBox="1"/>
          <p:nvPr/>
        </p:nvSpPr>
        <p:spPr>
          <a:xfrm>
            <a:off x="5699450" y="3428999"/>
            <a:ext cx="2640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Second, our starting point for the variable ‘total’ is zero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7BFF23-4B21-49EA-BAF3-A2AB5E62D563}"/>
              </a:ext>
            </a:extLst>
          </p:cNvPr>
          <p:cNvSpPr/>
          <p:nvPr/>
        </p:nvSpPr>
        <p:spPr>
          <a:xfrm>
            <a:off x="2301492" y="2833604"/>
            <a:ext cx="2699716" cy="394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4341DD-FEF2-4A09-9065-D1A8236DD214}"/>
              </a:ext>
            </a:extLst>
          </p:cNvPr>
          <p:cNvSpPr/>
          <p:nvPr/>
        </p:nvSpPr>
        <p:spPr>
          <a:xfrm>
            <a:off x="2085747" y="3228391"/>
            <a:ext cx="335332" cy="33776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81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70CDFD3-68D4-4576-860E-C55781248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50" y="2818847"/>
            <a:ext cx="4902162" cy="19820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57B433-9950-44E2-A38D-55095224C8FB}"/>
              </a:ext>
            </a:extLst>
          </p:cNvPr>
          <p:cNvSpPr txBox="1"/>
          <p:nvPr/>
        </p:nvSpPr>
        <p:spPr>
          <a:xfrm>
            <a:off x="246984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3D4D82-4F5F-4EB3-A7EF-A5B948DA7B91}"/>
              </a:ext>
            </a:extLst>
          </p:cNvPr>
          <p:cNvSpPr txBox="1"/>
          <p:nvPr/>
        </p:nvSpPr>
        <p:spPr>
          <a:xfrm>
            <a:off x="2862861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27D17C-1DCA-4C97-8775-74C89DE557AC}"/>
              </a:ext>
            </a:extLst>
          </p:cNvPr>
          <p:cNvSpPr txBox="1"/>
          <p:nvPr/>
        </p:nvSpPr>
        <p:spPr>
          <a:xfrm>
            <a:off x="330550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6F0EC0-4B48-40BC-A590-FBBE3A54A38F}"/>
              </a:ext>
            </a:extLst>
          </p:cNvPr>
          <p:cNvSpPr txBox="1"/>
          <p:nvPr/>
        </p:nvSpPr>
        <p:spPr>
          <a:xfrm>
            <a:off x="3863113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2E8A11-C473-46BE-A7BA-3DB04188C60F}"/>
              </a:ext>
            </a:extLst>
          </p:cNvPr>
          <p:cNvSpPr txBox="1"/>
          <p:nvPr/>
        </p:nvSpPr>
        <p:spPr>
          <a:xfrm>
            <a:off x="430372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099880-7A18-434E-B1EF-4DC0424EF2E5}"/>
              </a:ext>
            </a:extLst>
          </p:cNvPr>
          <p:cNvSpPr txBox="1"/>
          <p:nvPr/>
        </p:nvSpPr>
        <p:spPr>
          <a:xfrm>
            <a:off x="455043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AC2AE-6A6A-492C-89AF-74D73AEE21E9}"/>
              </a:ext>
            </a:extLst>
          </p:cNvPr>
          <p:cNvSpPr/>
          <p:nvPr/>
        </p:nvSpPr>
        <p:spPr>
          <a:xfrm>
            <a:off x="2359152" y="2833604"/>
            <a:ext cx="548640" cy="39478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DE2F2C-F55B-499D-806B-CB2A4CCB0229}"/>
              </a:ext>
            </a:extLst>
          </p:cNvPr>
          <p:cNvSpPr/>
          <p:nvPr/>
        </p:nvSpPr>
        <p:spPr>
          <a:xfrm>
            <a:off x="2085747" y="3228391"/>
            <a:ext cx="335332" cy="33776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8CED9-3BC4-4C73-975F-0032AE97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the loops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D6EA0-1FF5-48CB-81C6-B5EB988B9C43}"/>
              </a:ext>
            </a:extLst>
          </p:cNvPr>
          <p:cNvSpPr txBox="1"/>
          <p:nvPr/>
        </p:nvSpPr>
        <p:spPr>
          <a:xfrm>
            <a:off x="5681343" y="2902390"/>
            <a:ext cx="25210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first iteration variable in our list :</a:t>
            </a:r>
          </a:p>
          <a:p>
            <a:endParaRPr lang="en-US" dirty="0"/>
          </a:p>
          <a:p>
            <a:r>
              <a:rPr lang="en-US" dirty="0"/>
              <a:t>complete the function:</a:t>
            </a:r>
          </a:p>
          <a:p>
            <a:endParaRPr lang="en-US" dirty="0"/>
          </a:p>
          <a:p>
            <a:r>
              <a:rPr lang="en-US" dirty="0"/>
              <a:t>total = total + </a:t>
            </a:r>
            <a:r>
              <a:rPr lang="en-US" dirty="0" err="1"/>
              <a:t>itervar</a:t>
            </a:r>
            <a:endParaRPr lang="en-US" dirty="0"/>
          </a:p>
          <a:p>
            <a:r>
              <a:rPr lang="en-US" dirty="0"/>
              <a:t>5.4    =  0     + 5.4</a:t>
            </a:r>
          </a:p>
          <a:p>
            <a:endParaRPr lang="en-US" dirty="0"/>
          </a:p>
          <a:p>
            <a:r>
              <a:rPr lang="en-US" dirty="0"/>
              <a:t>total was = 0</a:t>
            </a:r>
          </a:p>
          <a:p>
            <a:r>
              <a:rPr lang="en-US" dirty="0"/>
              <a:t>total now = 5.4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7BFF23-4B21-49EA-BAF3-A2AB5E62D563}"/>
              </a:ext>
            </a:extLst>
          </p:cNvPr>
          <p:cNvSpPr/>
          <p:nvPr/>
        </p:nvSpPr>
        <p:spPr>
          <a:xfrm>
            <a:off x="1540322" y="3633216"/>
            <a:ext cx="1123630" cy="28651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723E788-E3AF-42DF-9CA5-BB4E2150C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50" y="2818847"/>
            <a:ext cx="4902162" cy="198204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4AFF083-6D50-4817-AFD7-C56AB7C59F5F}"/>
              </a:ext>
            </a:extLst>
          </p:cNvPr>
          <p:cNvSpPr txBox="1"/>
          <p:nvPr/>
        </p:nvSpPr>
        <p:spPr>
          <a:xfrm>
            <a:off x="246984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FCA6EB-0254-4151-A61A-4BD7113399FD}"/>
              </a:ext>
            </a:extLst>
          </p:cNvPr>
          <p:cNvSpPr txBox="1"/>
          <p:nvPr/>
        </p:nvSpPr>
        <p:spPr>
          <a:xfrm>
            <a:off x="2862861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6E6191-290E-44DA-A9E0-09AD4A74CB93}"/>
              </a:ext>
            </a:extLst>
          </p:cNvPr>
          <p:cNvSpPr txBox="1"/>
          <p:nvPr/>
        </p:nvSpPr>
        <p:spPr>
          <a:xfrm>
            <a:off x="330550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D0C263-D269-4528-AE7F-DDBB8A8C7523}"/>
              </a:ext>
            </a:extLst>
          </p:cNvPr>
          <p:cNvSpPr txBox="1"/>
          <p:nvPr/>
        </p:nvSpPr>
        <p:spPr>
          <a:xfrm>
            <a:off x="3863113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7586FA-4AF8-4EC7-8DCF-C6E0E4E368BD}"/>
              </a:ext>
            </a:extLst>
          </p:cNvPr>
          <p:cNvSpPr txBox="1"/>
          <p:nvPr/>
        </p:nvSpPr>
        <p:spPr>
          <a:xfrm>
            <a:off x="430372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931E2E-B066-4D7C-B113-4CEF415747E1}"/>
              </a:ext>
            </a:extLst>
          </p:cNvPr>
          <p:cNvSpPr txBox="1"/>
          <p:nvPr/>
        </p:nvSpPr>
        <p:spPr>
          <a:xfrm>
            <a:off x="455043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AC2AE-6A6A-492C-89AF-74D73AEE21E9}"/>
              </a:ext>
            </a:extLst>
          </p:cNvPr>
          <p:cNvSpPr/>
          <p:nvPr/>
        </p:nvSpPr>
        <p:spPr>
          <a:xfrm>
            <a:off x="2910461" y="2791205"/>
            <a:ext cx="261364" cy="39478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8CED9-3BC4-4C73-975F-0032AE97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the loops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D6EA0-1FF5-48CB-81C6-B5EB988B9C43}"/>
              </a:ext>
            </a:extLst>
          </p:cNvPr>
          <p:cNvSpPr txBox="1"/>
          <p:nvPr/>
        </p:nvSpPr>
        <p:spPr>
          <a:xfrm>
            <a:off x="5681343" y="2902390"/>
            <a:ext cx="25210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Now, the function moves to the second iteration variable in our list :</a:t>
            </a:r>
          </a:p>
          <a:p>
            <a:endParaRPr lang="en-US" dirty="0"/>
          </a:p>
          <a:p>
            <a:r>
              <a:rPr lang="en-US" dirty="0"/>
              <a:t>complete the function:</a:t>
            </a:r>
          </a:p>
          <a:p>
            <a:endParaRPr lang="en-US" dirty="0"/>
          </a:p>
          <a:p>
            <a:r>
              <a:rPr lang="en-US" dirty="0"/>
              <a:t>total = total + </a:t>
            </a:r>
            <a:r>
              <a:rPr lang="en-US" dirty="0" err="1"/>
              <a:t>itervar</a:t>
            </a:r>
            <a:endParaRPr lang="en-US" dirty="0"/>
          </a:p>
          <a:p>
            <a:r>
              <a:rPr lang="en-US" dirty="0"/>
              <a:t>12.4  =  5.4   + 7</a:t>
            </a:r>
          </a:p>
          <a:p>
            <a:endParaRPr lang="en-US" dirty="0"/>
          </a:p>
          <a:p>
            <a:r>
              <a:rPr lang="en-US" dirty="0"/>
              <a:t>total was = 5.4</a:t>
            </a:r>
          </a:p>
          <a:p>
            <a:r>
              <a:rPr lang="en-US" dirty="0"/>
              <a:t>total now = 12.4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7BFF23-4B21-49EA-BAF3-A2AB5E62D563}"/>
              </a:ext>
            </a:extLst>
          </p:cNvPr>
          <p:cNvSpPr/>
          <p:nvPr/>
        </p:nvSpPr>
        <p:spPr>
          <a:xfrm>
            <a:off x="1540322" y="3633216"/>
            <a:ext cx="1123630" cy="28651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B5B6A9-D0CA-4F01-A945-6D44D6F91977}"/>
              </a:ext>
            </a:extLst>
          </p:cNvPr>
          <p:cNvSpPr/>
          <p:nvPr/>
        </p:nvSpPr>
        <p:spPr>
          <a:xfrm>
            <a:off x="2085746" y="3228391"/>
            <a:ext cx="535534" cy="337769"/>
          </a:xfrm>
          <a:prstGeom prst="rect">
            <a:avLst/>
          </a:prstGeom>
          <a:solidFill>
            <a:srgbClr val="282C34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5.4</a:t>
            </a:r>
          </a:p>
        </p:txBody>
      </p:sp>
    </p:spTree>
    <p:extLst>
      <p:ext uri="{BB962C8B-B14F-4D97-AF65-F5344CB8AC3E}">
        <p14:creationId xmlns:p14="http://schemas.microsoft.com/office/powerpoint/2010/main" val="704523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89A790-87F9-43E7-9287-D3F4D57AF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50" y="2818847"/>
            <a:ext cx="4902162" cy="198204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8AC2AE-6A6A-492C-89AF-74D73AEE21E9}"/>
              </a:ext>
            </a:extLst>
          </p:cNvPr>
          <p:cNvSpPr/>
          <p:nvPr/>
        </p:nvSpPr>
        <p:spPr>
          <a:xfrm>
            <a:off x="3256738" y="2791205"/>
            <a:ext cx="455725" cy="39478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8CED9-3BC4-4C73-975F-0032AE97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the loops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D6EA0-1FF5-48CB-81C6-B5EB988B9C43}"/>
              </a:ext>
            </a:extLst>
          </p:cNvPr>
          <p:cNvSpPr txBox="1"/>
          <p:nvPr/>
        </p:nvSpPr>
        <p:spPr>
          <a:xfrm>
            <a:off x="5681343" y="2902390"/>
            <a:ext cx="2521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this continues until the for-loop has moved through all of the iteration variables.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7BFF23-4B21-49EA-BAF3-A2AB5E62D563}"/>
              </a:ext>
            </a:extLst>
          </p:cNvPr>
          <p:cNvSpPr/>
          <p:nvPr/>
        </p:nvSpPr>
        <p:spPr>
          <a:xfrm>
            <a:off x="1540322" y="3633216"/>
            <a:ext cx="1123630" cy="28651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B5B6A9-D0CA-4F01-A945-6D44D6F91977}"/>
              </a:ext>
            </a:extLst>
          </p:cNvPr>
          <p:cNvSpPr/>
          <p:nvPr/>
        </p:nvSpPr>
        <p:spPr>
          <a:xfrm>
            <a:off x="2085746" y="3228391"/>
            <a:ext cx="578206" cy="337769"/>
          </a:xfrm>
          <a:prstGeom prst="rect">
            <a:avLst/>
          </a:prstGeom>
          <a:solidFill>
            <a:srgbClr val="282C34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12.4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E52CF-0329-4315-858E-FC2E06C7558F}"/>
              </a:ext>
            </a:extLst>
          </p:cNvPr>
          <p:cNvSpPr txBox="1"/>
          <p:nvPr/>
        </p:nvSpPr>
        <p:spPr>
          <a:xfrm>
            <a:off x="246984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6FE6A5-0138-40C5-B5E9-444F6C8FAE31}"/>
              </a:ext>
            </a:extLst>
          </p:cNvPr>
          <p:cNvSpPr txBox="1"/>
          <p:nvPr/>
        </p:nvSpPr>
        <p:spPr>
          <a:xfrm>
            <a:off x="2862861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517ACA-E0FD-481B-92BF-700FA2E29219}"/>
              </a:ext>
            </a:extLst>
          </p:cNvPr>
          <p:cNvSpPr txBox="1"/>
          <p:nvPr/>
        </p:nvSpPr>
        <p:spPr>
          <a:xfrm>
            <a:off x="330550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82E1EC-981C-4661-B740-A76EF9D6A953}"/>
              </a:ext>
            </a:extLst>
          </p:cNvPr>
          <p:cNvSpPr txBox="1"/>
          <p:nvPr/>
        </p:nvSpPr>
        <p:spPr>
          <a:xfrm>
            <a:off x="3863113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0E3474-11C9-4B19-AC06-AC2B8CE9A1AC}"/>
              </a:ext>
            </a:extLst>
          </p:cNvPr>
          <p:cNvSpPr txBox="1"/>
          <p:nvPr/>
        </p:nvSpPr>
        <p:spPr>
          <a:xfrm>
            <a:off x="430372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39329B-5A82-4C96-A2AB-BF807E248098}"/>
              </a:ext>
            </a:extLst>
          </p:cNvPr>
          <p:cNvSpPr txBox="1"/>
          <p:nvPr/>
        </p:nvSpPr>
        <p:spPr>
          <a:xfrm>
            <a:off x="4550437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42746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7834FD4-0F39-4BE9-8D1F-BE0987AB9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78" y="2846340"/>
            <a:ext cx="4973726" cy="1917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88CED9-3BC4-4C73-975F-0032AE97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the loops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D6EA0-1FF5-48CB-81C6-B5EB988B9C43}"/>
              </a:ext>
            </a:extLst>
          </p:cNvPr>
          <p:cNvSpPr txBox="1"/>
          <p:nvPr/>
        </p:nvSpPr>
        <p:spPr>
          <a:xfrm>
            <a:off x="5617968" y="3094022"/>
            <a:ext cx="2640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why does this for-loop not work?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8A15A0-0566-4FED-ABE1-F66023DE5256}"/>
              </a:ext>
            </a:extLst>
          </p:cNvPr>
          <p:cNvSpPr/>
          <p:nvPr/>
        </p:nvSpPr>
        <p:spPr>
          <a:xfrm>
            <a:off x="1491554" y="3944112"/>
            <a:ext cx="3714430" cy="40233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23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E29E5F9-C672-4790-A212-E18E8C268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78" y="2846340"/>
            <a:ext cx="4973726" cy="1917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88CED9-3BC4-4C73-975F-0032AE97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the loops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625E1A-D594-476C-90F0-3BCA265578B3}"/>
              </a:ext>
            </a:extLst>
          </p:cNvPr>
          <p:cNvSpPr/>
          <p:nvPr/>
        </p:nvSpPr>
        <p:spPr>
          <a:xfrm>
            <a:off x="2353056" y="2833604"/>
            <a:ext cx="512064" cy="39478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E296D4-0389-4E8D-B3CC-29DB41C952BA}"/>
              </a:ext>
            </a:extLst>
          </p:cNvPr>
          <p:cNvSpPr txBox="1"/>
          <p:nvPr/>
        </p:nvSpPr>
        <p:spPr>
          <a:xfrm>
            <a:off x="2421079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72E554-AF11-4DF6-8F3B-26C461C3D9CC}"/>
              </a:ext>
            </a:extLst>
          </p:cNvPr>
          <p:cNvSpPr txBox="1"/>
          <p:nvPr/>
        </p:nvSpPr>
        <p:spPr>
          <a:xfrm>
            <a:off x="2814093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D13BC7-FDED-4319-8F5C-0845FA152443}"/>
              </a:ext>
            </a:extLst>
          </p:cNvPr>
          <p:cNvSpPr txBox="1"/>
          <p:nvPr/>
        </p:nvSpPr>
        <p:spPr>
          <a:xfrm>
            <a:off x="3256739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EC1317-AD02-4F4E-A2B2-F66E14314C51}"/>
              </a:ext>
            </a:extLst>
          </p:cNvPr>
          <p:cNvSpPr txBox="1"/>
          <p:nvPr/>
        </p:nvSpPr>
        <p:spPr>
          <a:xfrm>
            <a:off x="3814345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CADB65-8FDB-4745-B69A-F8C51FA9431E}"/>
              </a:ext>
            </a:extLst>
          </p:cNvPr>
          <p:cNvSpPr txBox="1"/>
          <p:nvPr/>
        </p:nvSpPr>
        <p:spPr>
          <a:xfrm>
            <a:off x="4254959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061C6D-3B67-43BE-A752-D1F1CCE8853F}"/>
              </a:ext>
            </a:extLst>
          </p:cNvPr>
          <p:cNvSpPr txBox="1"/>
          <p:nvPr/>
        </p:nvSpPr>
        <p:spPr>
          <a:xfrm>
            <a:off x="4501669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0B44A6-99E9-41C5-A388-1E83AD3F1A18}"/>
              </a:ext>
            </a:extLst>
          </p:cNvPr>
          <p:cNvSpPr/>
          <p:nvPr/>
        </p:nvSpPr>
        <p:spPr>
          <a:xfrm>
            <a:off x="2085747" y="3228391"/>
            <a:ext cx="335332" cy="33776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CB06EF-DFD5-4611-A2A4-B823CF3C8F47}"/>
              </a:ext>
            </a:extLst>
          </p:cNvPr>
          <p:cNvSpPr txBox="1"/>
          <p:nvPr/>
        </p:nvSpPr>
        <p:spPr>
          <a:xfrm>
            <a:off x="5681343" y="2524438"/>
            <a:ext cx="25210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first iteration variable in our list :</a:t>
            </a:r>
          </a:p>
          <a:p>
            <a:endParaRPr lang="en-US" dirty="0"/>
          </a:p>
          <a:p>
            <a:r>
              <a:rPr lang="en-US" dirty="0"/>
              <a:t>complete the function:</a:t>
            </a:r>
          </a:p>
          <a:p>
            <a:endParaRPr lang="en-US" dirty="0"/>
          </a:p>
          <a:p>
            <a:r>
              <a:rPr lang="en-US" dirty="0" err="1"/>
              <a:t>m_total</a:t>
            </a:r>
            <a:r>
              <a:rPr lang="en-US" dirty="0"/>
              <a:t> = total + </a:t>
            </a:r>
            <a:r>
              <a:rPr lang="en-US" dirty="0" err="1"/>
              <a:t>itervar</a:t>
            </a:r>
            <a:endParaRPr lang="en-US" dirty="0"/>
          </a:p>
          <a:p>
            <a:r>
              <a:rPr lang="en-US" dirty="0"/>
              <a:t>5.4        =  0     + 5.4</a:t>
            </a:r>
          </a:p>
          <a:p>
            <a:endParaRPr lang="en-US" dirty="0"/>
          </a:p>
          <a:p>
            <a:r>
              <a:rPr lang="en-US" dirty="0"/>
              <a:t>total was = 0</a:t>
            </a:r>
          </a:p>
          <a:p>
            <a:r>
              <a:rPr lang="en-US" dirty="0"/>
              <a:t>total now = 0</a:t>
            </a:r>
          </a:p>
          <a:p>
            <a:r>
              <a:rPr lang="en-US" dirty="0" err="1"/>
              <a:t>m_total</a:t>
            </a:r>
            <a:r>
              <a:rPr lang="en-US" dirty="0"/>
              <a:t> was = </a:t>
            </a:r>
          </a:p>
          <a:p>
            <a:r>
              <a:rPr lang="en-US" dirty="0" err="1"/>
              <a:t>m_total</a:t>
            </a:r>
            <a:r>
              <a:rPr lang="en-US" dirty="0"/>
              <a:t> now = 5.4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A46C29-2732-45EA-9CBB-45358347CE5B}"/>
              </a:ext>
            </a:extLst>
          </p:cNvPr>
          <p:cNvSpPr/>
          <p:nvPr/>
        </p:nvSpPr>
        <p:spPr>
          <a:xfrm>
            <a:off x="1540322" y="3633216"/>
            <a:ext cx="1123630" cy="28651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53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F5FD959-E010-4F21-8C6A-C4AF83811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78" y="2846340"/>
            <a:ext cx="4973726" cy="1917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88CED9-3BC4-4C73-975F-0032AE97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the loops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625E1A-D594-476C-90F0-3BCA265578B3}"/>
              </a:ext>
            </a:extLst>
          </p:cNvPr>
          <p:cNvSpPr/>
          <p:nvPr/>
        </p:nvSpPr>
        <p:spPr>
          <a:xfrm>
            <a:off x="2825320" y="2833604"/>
            <a:ext cx="357732" cy="39478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0B44A6-99E9-41C5-A388-1E83AD3F1A18}"/>
              </a:ext>
            </a:extLst>
          </p:cNvPr>
          <p:cNvSpPr/>
          <p:nvPr/>
        </p:nvSpPr>
        <p:spPr>
          <a:xfrm>
            <a:off x="2085747" y="3228391"/>
            <a:ext cx="335332" cy="33776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CB06EF-DFD5-4611-A2A4-B823CF3C8F47}"/>
              </a:ext>
            </a:extLst>
          </p:cNvPr>
          <p:cNvSpPr txBox="1"/>
          <p:nvPr/>
        </p:nvSpPr>
        <p:spPr>
          <a:xfrm>
            <a:off x="5681343" y="2524438"/>
            <a:ext cx="25210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Now, the function moves to the second iteration variable in our list :</a:t>
            </a:r>
          </a:p>
          <a:p>
            <a:endParaRPr lang="en-US" dirty="0"/>
          </a:p>
          <a:p>
            <a:r>
              <a:rPr lang="en-US" dirty="0"/>
              <a:t>complete the function:</a:t>
            </a:r>
          </a:p>
          <a:p>
            <a:endParaRPr lang="en-US" dirty="0"/>
          </a:p>
          <a:p>
            <a:r>
              <a:rPr lang="en-US" dirty="0" err="1"/>
              <a:t>m_total</a:t>
            </a:r>
            <a:r>
              <a:rPr lang="en-US" dirty="0"/>
              <a:t> = total + </a:t>
            </a:r>
            <a:r>
              <a:rPr lang="en-US" dirty="0" err="1"/>
              <a:t>itervar</a:t>
            </a:r>
            <a:endParaRPr lang="en-US" dirty="0"/>
          </a:p>
          <a:p>
            <a:r>
              <a:rPr lang="en-US" dirty="0"/>
              <a:t>7           =  0     + 7</a:t>
            </a:r>
          </a:p>
          <a:p>
            <a:endParaRPr lang="en-US" dirty="0"/>
          </a:p>
          <a:p>
            <a:r>
              <a:rPr lang="en-US" dirty="0"/>
              <a:t>total was = 0</a:t>
            </a:r>
          </a:p>
          <a:p>
            <a:r>
              <a:rPr lang="en-US" dirty="0"/>
              <a:t>total now = 0</a:t>
            </a:r>
          </a:p>
          <a:p>
            <a:r>
              <a:rPr lang="en-US" dirty="0" err="1"/>
              <a:t>m_total</a:t>
            </a:r>
            <a:r>
              <a:rPr lang="en-US" dirty="0"/>
              <a:t> was = 5.4</a:t>
            </a:r>
          </a:p>
          <a:p>
            <a:r>
              <a:rPr lang="en-US" dirty="0" err="1"/>
              <a:t>m_total</a:t>
            </a:r>
            <a:r>
              <a:rPr lang="en-US" dirty="0"/>
              <a:t> now = 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A46C29-2732-45EA-9CBB-45358347CE5B}"/>
              </a:ext>
            </a:extLst>
          </p:cNvPr>
          <p:cNvSpPr/>
          <p:nvPr/>
        </p:nvSpPr>
        <p:spPr>
          <a:xfrm>
            <a:off x="1540322" y="3633216"/>
            <a:ext cx="1123630" cy="28651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E9D227-131B-4269-8F0A-05C74384291C}"/>
              </a:ext>
            </a:extLst>
          </p:cNvPr>
          <p:cNvSpPr txBox="1"/>
          <p:nvPr/>
        </p:nvSpPr>
        <p:spPr>
          <a:xfrm>
            <a:off x="2421079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CA79A4-285D-4240-8B5A-EF69D521CEAE}"/>
              </a:ext>
            </a:extLst>
          </p:cNvPr>
          <p:cNvSpPr txBox="1"/>
          <p:nvPr/>
        </p:nvSpPr>
        <p:spPr>
          <a:xfrm>
            <a:off x="2814093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DA15EF-BD8D-4365-9A45-C458C7EA5459}"/>
              </a:ext>
            </a:extLst>
          </p:cNvPr>
          <p:cNvSpPr txBox="1"/>
          <p:nvPr/>
        </p:nvSpPr>
        <p:spPr>
          <a:xfrm>
            <a:off x="3256739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081A55-35A3-495B-A937-8A12E3FD7A7F}"/>
              </a:ext>
            </a:extLst>
          </p:cNvPr>
          <p:cNvSpPr txBox="1"/>
          <p:nvPr/>
        </p:nvSpPr>
        <p:spPr>
          <a:xfrm>
            <a:off x="3814345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10A73D-8115-45FA-BB69-27B43B5CA4FF}"/>
              </a:ext>
            </a:extLst>
          </p:cNvPr>
          <p:cNvSpPr txBox="1"/>
          <p:nvPr/>
        </p:nvSpPr>
        <p:spPr>
          <a:xfrm>
            <a:off x="4254959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A1637E-9190-442E-98E7-44F233365003}"/>
              </a:ext>
            </a:extLst>
          </p:cNvPr>
          <p:cNvSpPr txBox="1"/>
          <p:nvPr/>
        </p:nvSpPr>
        <p:spPr>
          <a:xfrm>
            <a:off x="4501669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24675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7C97949-5B11-495C-A9E1-D2D36C2F6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78" y="2846340"/>
            <a:ext cx="4973726" cy="1917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88CED9-3BC4-4C73-975F-0032AE97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the loops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625E1A-D594-476C-90F0-3BCA265578B3}"/>
              </a:ext>
            </a:extLst>
          </p:cNvPr>
          <p:cNvSpPr/>
          <p:nvPr/>
        </p:nvSpPr>
        <p:spPr>
          <a:xfrm>
            <a:off x="2825320" y="2833604"/>
            <a:ext cx="357732" cy="39478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0B44A6-99E9-41C5-A388-1E83AD3F1A18}"/>
              </a:ext>
            </a:extLst>
          </p:cNvPr>
          <p:cNvSpPr/>
          <p:nvPr/>
        </p:nvSpPr>
        <p:spPr>
          <a:xfrm>
            <a:off x="2085747" y="3228391"/>
            <a:ext cx="335332" cy="33776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CB06EF-DFD5-4611-A2A4-B823CF3C8F47}"/>
              </a:ext>
            </a:extLst>
          </p:cNvPr>
          <p:cNvSpPr txBox="1"/>
          <p:nvPr/>
        </p:nvSpPr>
        <p:spPr>
          <a:xfrm>
            <a:off x="5699631" y="2521195"/>
            <a:ext cx="252109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the same variable </a:t>
            </a:r>
            <a:r>
              <a:rPr lang="en-US" b="1" i="1" dirty="0"/>
              <a:t>is not </a:t>
            </a:r>
            <a:r>
              <a:rPr lang="en-US" dirty="0"/>
              <a:t>on the left and the right of the equal sign in our for-loop, there is no iteration occurring. </a:t>
            </a:r>
          </a:p>
          <a:p>
            <a:endParaRPr lang="en-US" dirty="0"/>
          </a:p>
          <a:p>
            <a:r>
              <a:rPr lang="en-US" dirty="0"/>
              <a:t>You are not iteratively manipulating the same variable in each loop of your function.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A46C29-2732-45EA-9CBB-45358347CE5B}"/>
              </a:ext>
            </a:extLst>
          </p:cNvPr>
          <p:cNvSpPr/>
          <p:nvPr/>
        </p:nvSpPr>
        <p:spPr>
          <a:xfrm>
            <a:off x="1540322" y="3633216"/>
            <a:ext cx="1123630" cy="28651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A811F0-1F0A-4166-9655-5FA1BCB7A9C0}"/>
              </a:ext>
            </a:extLst>
          </p:cNvPr>
          <p:cNvSpPr/>
          <p:nvPr/>
        </p:nvSpPr>
        <p:spPr>
          <a:xfrm>
            <a:off x="1491554" y="3944112"/>
            <a:ext cx="2281870" cy="40233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B1B404-0FD9-4D3B-9EC7-238BC3BF9EA2}"/>
              </a:ext>
            </a:extLst>
          </p:cNvPr>
          <p:cNvSpPr txBox="1"/>
          <p:nvPr/>
        </p:nvSpPr>
        <p:spPr>
          <a:xfrm>
            <a:off x="2421079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D22192-4C44-4107-B8F7-057F1E4D5A9C}"/>
              </a:ext>
            </a:extLst>
          </p:cNvPr>
          <p:cNvSpPr txBox="1"/>
          <p:nvPr/>
        </p:nvSpPr>
        <p:spPr>
          <a:xfrm>
            <a:off x="2814093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08F79B-00C4-4DA1-946B-8D029715DBC9}"/>
              </a:ext>
            </a:extLst>
          </p:cNvPr>
          <p:cNvSpPr txBox="1"/>
          <p:nvPr/>
        </p:nvSpPr>
        <p:spPr>
          <a:xfrm>
            <a:off x="3256739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94CB7F-7E53-4F29-96BC-825E6620D7A1}"/>
              </a:ext>
            </a:extLst>
          </p:cNvPr>
          <p:cNvSpPr txBox="1"/>
          <p:nvPr/>
        </p:nvSpPr>
        <p:spPr>
          <a:xfrm>
            <a:off x="3814345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A58D10-8696-4BA5-94ED-F08862DCADE1}"/>
              </a:ext>
            </a:extLst>
          </p:cNvPr>
          <p:cNvSpPr txBox="1"/>
          <p:nvPr/>
        </p:nvSpPr>
        <p:spPr>
          <a:xfrm>
            <a:off x="4254959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A35A8B-E8A2-4C1D-8A84-7519B363A8BC}"/>
              </a:ext>
            </a:extLst>
          </p:cNvPr>
          <p:cNvSpPr txBox="1"/>
          <p:nvPr/>
        </p:nvSpPr>
        <p:spPr>
          <a:xfrm>
            <a:off x="4501669" y="2421873"/>
            <a:ext cx="3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65135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502D59A-EC5B-4FAE-9435-B73D4C98E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78" y="2846340"/>
            <a:ext cx="4973726" cy="1917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88CED9-3BC4-4C73-975F-0032AE97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the loops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CB06EF-DFD5-4611-A2A4-B823CF3C8F47}"/>
              </a:ext>
            </a:extLst>
          </p:cNvPr>
          <p:cNvSpPr txBox="1"/>
          <p:nvPr/>
        </p:nvSpPr>
        <p:spPr>
          <a:xfrm>
            <a:off x="5760591" y="3411927"/>
            <a:ext cx="25210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the same variable </a:t>
            </a:r>
            <a:r>
              <a:rPr lang="en-US" b="1" i="1" dirty="0"/>
              <a:t>is</a:t>
            </a:r>
            <a:r>
              <a:rPr lang="en-US" dirty="0"/>
              <a:t> on the left and the right of the equal sign in our for-loop, you are iteratively manipulating the same variable in each loop of your function.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A811F0-1F0A-4166-9655-5FA1BCB7A9C0}"/>
              </a:ext>
            </a:extLst>
          </p:cNvPr>
          <p:cNvSpPr/>
          <p:nvPr/>
        </p:nvSpPr>
        <p:spPr>
          <a:xfrm>
            <a:off x="1491554" y="3944112"/>
            <a:ext cx="2281870" cy="40233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77D226-4B9F-4911-AAE4-B00F9EABB0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67"/>
          <a:stretch/>
        </p:blipFill>
        <p:spPr>
          <a:xfrm>
            <a:off x="360274" y="4957815"/>
            <a:ext cx="5046878" cy="187098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F3789BF-0427-417C-A697-F43967590F28}"/>
              </a:ext>
            </a:extLst>
          </p:cNvPr>
          <p:cNvSpPr/>
          <p:nvPr/>
        </p:nvSpPr>
        <p:spPr>
          <a:xfrm>
            <a:off x="1540322" y="6047232"/>
            <a:ext cx="2021692" cy="40233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7240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</TotalTime>
  <Words>916</Words>
  <Application>Microsoft Office PowerPoint</Application>
  <PresentationFormat>On-screen Show (4:3)</PresentationFormat>
  <Paragraphs>219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Courier New</vt:lpstr>
      <vt:lpstr>Gill Sans MT</vt:lpstr>
      <vt:lpstr>Proxima Nova</vt:lpstr>
      <vt:lpstr>Parcel</vt:lpstr>
      <vt:lpstr>PAI 724:  Data Driven Decision making  LAB</vt:lpstr>
      <vt:lpstr>Lecture Topic</vt:lpstr>
      <vt:lpstr>Programming basics</vt:lpstr>
      <vt:lpstr>Programming basics</vt:lpstr>
      <vt:lpstr>Iteration</vt:lpstr>
      <vt:lpstr>While </vt:lpstr>
      <vt:lpstr>While </vt:lpstr>
      <vt:lpstr>Code Break</vt:lpstr>
      <vt:lpstr>while</vt:lpstr>
      <vt:lpstr>while</vt:lpstr>
      <vt:lpstr>while</vt:lpstr>
      <vt:lpstr>while</vt:lpstr>
      <vt:lpstr>while</vt:lpstr>
      <vt:lpstr>while</vt:lpstr>
      <vt:lpstr>Code Break</vt:lpstr>
      <vt:lpstr>For</vt:lpstr>
      <vt:lpstr>For</vt:lpstr>
      <vt:lpstr>For</vt:lpstr>
      <vt:lpstr>Code Break</vt:lpstr>
      <vt:lpstr>Thinking through the loops</vt:lpstr>
      <vt:lpstr>Thinking through the loops</vt:lpstr>
      <vt:lpstr>Thinking through the loops</vt:lpstr>
      <vt:lpstr>Thinking through the loops</vt:lpstr>
      <vt:lpstr>Thinking through the loops</vt:lpstr>
      <vt:lpstr>Thinking through the loops</vt:lpstr>
      <vt:lpstr>Thinking through the loops</vt:lpstr>
      <vt:lpstr>Thinking through the loops</vt:lpstr>
      <vt:lpstr>Thinking through the loops</vt:lpstr>
      <vt:lpstr>Thinking through the loops</vt:lpstr>
      <vt:lpstr>Thinking through the loops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 724:  Data Driven Decision making  dr. Saba Siddiki</dc:title>
  <dc:creator>Saba N Siddiki</dc:creator>
  <cp:lastModifiedBy>Graham Ambrose</cp:lastModifiedBy>
  <cp:revision>69</cp:revision>
  <dcterms:created xsi:type="dcterms:W3CDTF">2020-09-27T19:09:25Z</dcterms:created>
  <dcterms:modified xsi:type="dcterms:W3CDTF">2022-09-25T18:25:00Z</dcterms:modified>
</cp:coreProperties>
</file>