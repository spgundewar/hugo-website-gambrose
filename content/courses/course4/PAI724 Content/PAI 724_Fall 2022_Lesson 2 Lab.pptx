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9144000"/>
  <p:notesSz cx="6858000" cy="9144000"/>
  <p:embeddedFontLst>
    <p:embeddedFont>
      <p:font typeface="Proxima Nova"/>
      <p:regular r:id="rId31"/>
      <p:bold r:id="rId32"/>
      <p:italic r:id="rId33"/>
      <p:boldItalic r:id="rId34"/>
    </p:embeddedFont>
    <p:embeddedFont>
      <p:font typeface="Gill Sans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gnUVgwupbjdFJ8/0uLC2Gy4NRO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A8DBF5-CC09-4CC4-B048-8DF1F3AC4F0C}">
  <a:tblStyle styleId="{73A8DBF5-CC09-4CC4-B048-8DF1F3AC4F0C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roximaNova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ProximaNova-italic.fntdata"/><Relationship Id="rId10" Type="http://schemas.openxmlformats.org/officeDocument/2006/relationships/slide" Target="slides/slide4.xml"/><Relationship Id="rId32" Type="http://schemas.openxmlformats.org/officeDocument/2006/relationships/font" Target="fonts/ProximaNova-bold.fntdata"/><Relationship Id="rId13" Type="http://schemas.openxmlformats.org/officeDocument/2006/relationships/slide" Target="slides/slide7.xml"/><Relationship Id="rId35" Type="http://schemas.openxmlformats.org/officeDocument/2006/relationships/font" Target="fonts/GillSans-regular.fntdata"/><Relationship Id="rId12" Type="http://schemas.openxmlformats.org/officeDocument/2006/relationships/slide" Target="slides/slide6.xml"/><Relationship Id="rId34" Type="http://schemas.openxmlformats.org/officeDocument/2006/relationships/font" Target="fonts/ProximaNova-boldItalic.fntdata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GillSans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/>
          <p:nvPr>
            <p:ph type="ctrTitle"/>
          </p:nvPr>
        </p:nvSpPr>
        <p:spPr>
          <a:xfrm>
            <a:off x="1102240" y="2386744"/>
            <a:ext cx="693952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500"/>
              <a:buFont typeface="Gill Sans"/>
              <a:buNone/>
              <a:defRPr sz="35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8"/>
          <p:cNvSpPr txBox="1"/>
          <p:nvPr>
            <p:ph idx="1" type="subTitle"/>
          </p:nvPr>
        </p:nvSpPr>
        <p:spPr>
          <a:xfrm>
            <a:off x="2021396" y="4352544"/>
            <a:ext cx="5101209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8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8"/>
          <p:cNvSpPr txBox="1"/>
          <p:nvPr>
            <p:ph idx="11" type="ftr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8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1"/>
          <p:cNvSpPr txBox="1"/>
          <p:nvPr>
            <p:ph type="title"/>
          </p:nvPr>
        </p:nvSpPr>
        <p:spPr>
          <a:xfrm>
            <a:off x="1106424" y="2386744"/>
            <a:ext cx="6940296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500"/>
              <a:buFont typeface="Gill Sans"/>
              <a:buNone/>
              <a:defRPr sz="35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1"/>
          <p:cNvSpPr txBox="1"/>
          <p:nvPr>
            <p:ph idx="1" type="body"/>
          </p:nvPr>
        </p:nvSpPr>
        <p:spPr>
          <a:xfrm>
            <a:off x="2021396" y="4352465"/>
            <a:ext cx="5101209" cy="1265082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1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1"/>
          <p:cNvSpPr txBox="1"/>
          <p:nvPr>
            <p:ph idx="11" type="ftr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1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9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" type="body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1" type="ftr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9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/>
          <p:nvPr>
            <p:ph type="ctrTitle"/>
          </p:nvPr>
        </p:nvSpPr>
        <p:spPr>
          <a:xfrm>
            <a:off x="1102240" y="2386744"/>
            <a:ext cx="693952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500"/>
              <a:buFont typeface="Gill Sans"/>
              <a:buNone/>
              <a:defRPr sz="35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" type="subTitle"/>
          </p:nvPr>
        </p:nvSpPr>
        <p:spPr>
          <a:xfrm>
            <a:off x="2021396" y="4352544"/>
            <a:ext cx="5101209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8" name="Google Shape;38;p27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1" type="ftr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7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0"/>
          <p:cNvSpPr txBox="1"/>
          <p:nvPr>
            <p:ph type="title"/>
          </p:nvPr>
        </p:nvSpPr>
        <p:spPr>
          <a:xfrm>
            <a:off x="1106424" y="2386744"/>
            <a:ext cx="6940296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500"/>
              <a:buFont typeface="Gill Sans"/>
              <a:buNone/>
              <a:defRPr sz="35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idx="1" type="body"/>
          </p:nvPr>
        </p:nvSpPr>
        <p:spPr>
          <a:xfrm>
            <a:off x="2021396" y="4352465"/>
            <a:ext cx="5101209" cy="1265082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30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0"/>
          <p:cNvSpPr txBox="1"/>
          <p:nvPr>
            <p:ph idx="11" type="ftr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0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2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1" type="body"/>
          </p:nvPr>
        </p:nvSpPr>
        <p:spPr>
          <a:xfrm>
            <a:off x="1102239" y="2638044"/>
            <a:ext cx="3288023" cy="310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2"/>
          <p:cNvSpPr txBox="1"/>
          <p:nvPr>
            <p:ph idx="2" type="body"/>
          </p:nvPr>
        </p:nvSpPr>
        <p:spPr>
          <a:xfrm>
            <a:off x="4753737" y="2638044"/>
            <a:ext cx="3290516" cy="310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idx="1" type="body"/>
          </p:nvPr>
        </p:nvSpPr>
        <p:spPr>
          <a:xfrm>
            <a:off x="1102239" y="2313434"/>
            <a:ext cx="3288024" cy="704087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0" sz="1900" cap="none">
                <a:solidFill>
                  <a:srgbClr val="6B889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33"/>
          <p:cNvSpPr txBox="1"/>
          <p:nvPr>
            <p:ph idx="2" type="body"/>
          </p:nvPr>
        </p:nvSpPr>
        <p:spPr>
          <a:xfrm>
            <a:off x="1102239" y="3143250"/>
            <a:ext cx="3288024" cy="259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3" type="body"/>
          </p:nvPr>
        </p:nvSpPr>
        <p:spPr>
          <a:xfrm>
            <a:off x="4753737" y="3143250"/>
            <a:ext cx="3290516" cy="259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33"/>
          <p:cNvSpPr txBox="1"/>
          <p:nvPr>
            <p:ph idx="4" type="body"/>
          </p:nvPr>
        </p:nvSpPr>
        <p:spPr>
          <a:xfrm>
            <a:off x="4753737" y="2313434"/>
            <a:ext cx="3290516" cy="704087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0" sz="1900" cap="none">
                <a:solidFill>
                  <a:srgbClr val="6B889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33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1" type="ftr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3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33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4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4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idx="11" type="ftr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5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1" type="ftr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5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6"/>
          <p:cNvSpPr txBox="1"/>
          <p:nvPr>
            <p:ph type="title"/>
          </p:nvPr>
        </p:nvSpPr>
        <p:spPr>
          <a:xfrm>
            <a:off x="640703" y="2243829"/>
            <a:ext cx="3290594" cy="114149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Gill Sans"/>
              <a:buNone/>
              <a:defRPr sz="21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" type="body"/>
          </p:nvPr>
        </p:nvSpPr>
        <p:spPr>
          <a:xfrm>
            <a:off x="5052060" y="804672"/>
            <a:ext cx="3611880" cy="5248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indent="-3302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76" name="Google Shape;76;p36"/>
          <p:cNvSpPr txBox="1"/>
          <p:nvPr>
            <p:ph idx="2" type="body"/>
          </p:nvPr>
        </p:nvSpPr>
        <p:spPr>
          <a:xfrm>
            <a:off x="862965" y="3549918"/>
            <a:ext cx="2846070" cy="219403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36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6"/>
          <p:cNvSpPr txBox="1"/>
          <p:nvPr>
            <p:ph idx="11" type="ftr"/>
          </p:nvPr>
        </p:nvSpPr>
        <p:spPr>
          <a:xfrm>
            <a:off x="640703" y="6236208"/>
            <a:ext cx="380639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6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7"/>
          <p:cNvSpPr txBox="1"/>
          <p:nvPr>
            <p:ph type="title"/>
          </p:nvPr>
        </p:nvSpPr>
        <p:spPr>
          <a:xfrm>
            <a:off x="640080" y="2243828"/>
            <a:ext cx="329184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Gill Sans"/>
              <a:buNone/>
              <a:defRPr sz="21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/>
          <p:nvPr>
            <p:ph idx="2" type="pic"/>
          </p:nvPr>
        </p:nvSpPr>
        <p:spPr>
          <a:xfrm>
            <a:off x="4572000" y="-42172"/>
            <a:ext cx="4576573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84" name="Google Shape;84;p37"/>
          <p:cNvSpPr txBox="1"/>
          <p:nvPr>
            <p:ph idx="1" type="body"/>
          </p:nvPr>
        </p:nvSpPr>
        <p:spPr>
          <a:xfrm>
            <a:off x="862965" y="3549919"/>
            <a:ext cx="2846070" cy="2194037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5" name="Google Shape;85;p37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7"/>
          <p:cNvSpPr txBox="1"/>
          <p:nvPr>
            <p:ph idx="11" type="ftr"/>
          </p:nvPr>
        </p:nvSpPr>
        <p:spPr>
          <a:xfrm>
            <a:off x="640080" y="6236208"/>
            <a:ext cx="38039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7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8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8"/>
          <p:cNvSpPr txBox="1"/>
          <p:nvPr>
            <p:ph idx="1" type="body"/>
          </p:nvPr>
        </p:nvSpPr>
        <p:spPr>
          <a:xfrm rot="5400000">
            <a:off x="3023931" y="1220159"/>
            <a:ext cx="3101983" cy="5937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38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8"/>
          <p:cNvSpPr txBox="1"/>
          <p:nvPr>
            <p:ph idx="11" type="ftr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8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9"/>
          <p:cNvSpPr txBox="1"/>
          <p:nvPr>
            <p:ph type="title"/>
          </p:nvPr>
        </p:nvSpPr>
        <p:spPr>
          <a:xfrm rot="5400000">
            <a:off x="4525077" y="2902017"/>
            <a:ext cx="4983480" cy="1053966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9"/>
          <p:cNvSpPr txBox="1"/>
          <p:nvPr>
            <p:ph idx="1" type="body"/>
          </p:nvPr>
        </p:nvSpPr>
        <p:spPr>
          <a:xfrm rot="5400000">
            <a:off x="1472393" y="1070913"/>
            <a:ext cx="4983480" cy="4716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39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9"/>
          <p:cNvSpPr txBox="1"/>
          <p:nvPr>
            <p:ph idx="11" type="ftr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9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  <a:defRPr b="0" i="0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1" type="ftr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26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  <a:defRPr b="0" i="0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25"/>
          <p:cNvSpPr txBox="1"/>
          <p:nvPr>
            <p:ph idx="1" type="body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6" name="Google Shape;26;p25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7" name="Google Shape;27;p25"/>
          <p:cNvSpPr txBox="1"/>
          <p:nvPr>
            <p:ph idx="11" type="ftr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8" name="Google Shape;28;p25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 txBox="1"/>
          <p:nvPr>
            <p:ph type="ctrTitle"/>
          </p:nvPr>
        </p:nvSpPr>
        <p:spPr>
          <a:xfrm>
            <a:off x="1102239" y="2005007"/>
            <a:ext cx="6939520" cy="2847986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500"/>
              <a:buFont typeface="Gill Sans"/>
              <a:buNone/>
            </a:pPr>
            <a:r>
              <a:rPr lang="en-US"/>
              <a:t>PAI 724: </a:t>
            </a:r>
            <a:br>
              <a:rPr lang="en-US"/>
            </a:br>
            <a:r>
              <a:rPr lang="en-US"/>
              <a:t>DATA DRIVEN DECISION MAKING</a:t>
            </a:r>
            <a:br>
              <a:rPr lang="en-US"/>
            </a:br>
            <a:br>
              <a:rPr lang="en-US"/>
            </a:br>
            <a:r>
              <a:rPr lang="en-US" sz="1800"/>
              <a:t>LAB</a:t>
            </a:r>
            <a:endParaRPr/>
          </a:p>
        </p:txBody>
      </p:sp>
      <p:sp>
        <p:nvSpPr>
          <p:cNvPr id="105" name="Google Shape;105;p1"/>
          <p:cNvSpPr txBox="1"/>
          <p:nvPr>
            <p:ph idx="1" type="subTitle"/>
          </p:nvPr>
        </p:nvSpPr>
        <p:spPr>
          <a:xfrm>
            <a:off x="2021394" y="5618106"/>
            <a:ext cx="5101209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/>
              <a:t>Week 3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</a:pPr>
            <a:r>
              <a:rPr lang="en-US"/>
              <a:t>September 19, 2022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/>
              <a:t>LECTURE TOPIC</a:t>
            </a:r>
            <a:endParaRPr/>
          </a:p>
        </p:txBody>
      </p:sp>
      <p:sp>
        <p:nvSpPr>
          <p:cNvPr id="111" name="Google Shape;111;p2"/>
          <p:cNvSpPr txBox="1"/>
          <p:nvPr>
            <p:ph idx="1" type="body"/>
          </p:nvPr>
        </p:nvSpPr>
        <p:spPr>
          <a:xfrm>
            <a:off x="1603122" y="3756017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Conditional Execution and Functions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type="title"/>
          </p:nvPr>
        </p:nvSpPr>
        <p:spPr>
          <a:xfrm>
            <a:off x="1106424" y="2386744"/>
            <a:ext cx="6940296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500"/>
              <a:buFont typeface="Gill Sans"/>
              <a:buNone/>
            </a:pPr>
            <a:r>
              <a:rPr lang="en-US"/>
              <a:t>CONDITIONAL EXECUTION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/>
              <a:t>BASIC LOGIC</a:t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4343400" y="2350495"/>
            <a:ext cx="457200" cy="457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448455" y="3634546"/>
            <a:ext cx="2247089" cy="1070043"/>
          </a:xfrm>
          <a:prstGeom prst="diamond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1707204" y="4976958"/>
            <a:ext cx="2033081" cy="10019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</a:t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5384261" y="4986688"/>
            <a:ext cx="2033081" cy="10019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endParaRPr/>
          </a:p>
        </p:txBody>
      </p:sp>
      <p:cxnSp>
        <p:nvCxnSpPr>
          <p:cNvPr id="126" name="Google Shape;126;p4"/>
          <p:cNvCxnSpPr>
            <a:stCxn id="122" idx="4"/>
            <a:endCxn id="123" idx="0"/>
          </p:cNvCxnSpPr>
          <p:nvPr/>
        </p:nvCxnSpPr>
        <p:spPr>
          <a:xfrm>
            <a:off x="4572000" y="2807695"/>
            <a:ext cx="0" cy="82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2723744" y="4150107"/>
            <a:ext cx="0" cy="82685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" name="Google Shape;128;p4"/>
          <p:cNvCxnSpPr/>
          <p:nvPr/>
        </p:nvCxnSpPr>
        <p:spPr>
          <a:xfrm>
            <a:off x="6407285" y="4150109"/>
            <a:ext cx="0" cy="82685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9" name="Google Shape;129;p4"/>
          <p:cNvCxnSpPr/>
          <p:nvPr/>
        </p:nvCxnSpPr>
        <p:spPr>
          <a:xfrm rot="10800000">
            <a:off x="2723744" y="4159839"/>
            <a:ext cx="724711" cy="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4"/>
          <p:cNvCxnSpPr/>
          <p:nvPr/>
        </p:nvCxnSpPr>
        <p:spPr>
          <a:xfrm rot="10800000">
            <a:off x="5695543" y="4169565"/>
            <a:ext cx="724711" cy="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4"/>
          <p:cNvSpPr txBox="1"/>
          <p:nvPr/>
        </p:nvSpPr>
        <p:spPr>
          <a:xfrm>
            <a:off x="2710776" y="3790505"/>
            <a:ext cx="757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TRUE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5627446" y="3787579"/>
            <a:ext cx="8122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FALSE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538268" y="2508865"/>
            <a:ext cx="268158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INPUT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evaluated to  </a:t>
            </a: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</a:t>
            </a: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TRUE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🡪 Execute </a:t>
            </a: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</a:t>
            </a: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FALSE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🡪 Execute </a:t>
            </a: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/>
              <a:t>BASIC LOGIC</a:t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4343400" y="2350495"/>
            <a:ext cx="457200" cy="457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</a:t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3448455" y="3634546"/>
            <a:ext cx="2247089" cy="1070043"/>
          </a:xfrm>
          <a:prstGeom prst="diamond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1707204" y="4976958"/>
            <a:ext cx="2033081" cy="10019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</a:t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5384261" y="4986688"/>
            <a:ext cx="2033081" cy="10019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endParaRPr/>
          </a:p>
        </p:txBody>
      </p:sp>
      <p:cxnSp>
        <p:nvCxnSpPr>
          <p:cNvPr id="143" name="Google Shape;143;p5"/>
          <p:cNvCxnSpPr>
            <a:stCxn id="139" idx="4"/>
            <a:endCxn id="140" idx="0"/>
          </p:cNvCxnSpPr>
          <p:nvPr/>
        </p:nvCxnSpPr>
        <p:spPr>
          <a:xfrm>
            <a:off x="4572000" y="2807695"/>
            <a:ext cx="0" cy="82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4" name="Google Shape;144;p5"/>
          <p:cNvCxnSpPr/>
          <p:nvPr/>
        </p:nvCxnSpPr>
        <p:spPr>
          <a:xfrm>
            <a:off x="2723744" y="4150107"/>
            <a:ext cx="0" cy="82685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5" name="Google Shape;145;p5"/>
          <p:cNvCxnSpPr/>
          <p:nvPr/>
        </p:nvCxnSpPr>
        <p:spPr>
          <a:xfrm>
            <a:off x="6407285" y="4150109"/>
            <a:ext cx="0" cy="82685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" name="Google Shape;146;p5"/>
          <p:cNvCxnSpPr/>
          <p:nvPr/>
        </p:nvCxnSpPr>
        <p:spPr>
          <a:xfrm rot="10800000">
            <a:off x="2723744" y="4159839"/>
            <a:ext cx="724711" cy="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5"/>
          <p:cNvCxnSpPr/>
          <p:nvPr/>
        </p:nvCxnSpPr>
        <p:spPr>
          <a:xfrm rot="10800000">
            <a:off x="5695543" y="4169565"/>
            <a:ext cx="724711" cy="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5"/>
          <p:cNvSpPr txBox="1"/>
          <p:nvPr/>
        </p:nvSpPr>
        <p:spPr>
          <a:xfrm>
            <a:off x="2710776" y="3790505"/>
            <a:ext cx="757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TRUE</a:t>
            </a:r>
            <a:endParaRPr/>
          </a:p>
        </p:txBody>
      </p:sp>
      <p:sp>
        <p:nvSpPr>
          <p:cNvPr id="149" name="Google Shape;149;p5"/>
          <p:cNvSpPr txBox="1"/>
          <p:nvPr/>
        </p:nvSpPr>
        <p:spPr>
          <a:xfrm>
            <a:off x="5627446" y="3787579"/>
            <a:ext cx="8122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FALSE</a:t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538268" y="2508865"/>
            <a:ext cx="268158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INPUT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evaluated to  </a:t>
            </a: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</a:t>
            </a: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TRUE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🡪 Execute </a:t>
            </a: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</a:t>
            </a: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FALSE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🡪 Execute </a:t>
            </a: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6819087" y="2579095"/>
            <a:ext cx="174773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if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==</a:t>
            </a: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A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else: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C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/>
          <p:nvPr/>
        </p:nvSpPr>
        <p:spPr>
          <a:xfrm>
            <a:off x="3448455" y="2101174"/>
            <a:ext cx="2247089" cy="1070043"/>
          </a:xfrm>
          <a:prstGeom prst="diamond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endParaRPr/>
          </a:p>
        </p:txBody>
      </p:sp>
      <p:cxnSp>
        <p:nvCxnSpPr>
          <p:cNvPr id="157" name="Google Shape;157;p6"/>
          <p:cNvCxnSpPr/>
          <p:nvPr/>
        </p:nvCxnSpPr>
        <p:spPr>
          <a:xfrm rot="10800000">
            <a:off x="2723744" y="2626467"/>
            <a:ext cx="724711" cy="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" name="Google Shape;158;p6"/>
          <p:cNvCxnSpPr/>
          <p:nvPr/>
        </p:nvCxnSpPr>
        <p:spPr>
          <a:xfrm rot="10800000">
            <a:off x="5695543" y="2636193"/>
            <a:ext cx="724711" cy="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6"/>
          <p:cNvSpPr txBox="1"/>
          <p:nvPr/>
        </p:nvSpPr>
        <p:spPr>
          <a:xfrm>
            <a:off x="2710776" y="2257133"/>
            <a:ext cx="757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TRUE</a:t>
            </a:r>
            <a:endParaRPr/>
          </a:p>
        </p:txBody>
      </p:sp>
      <p:sp>
        <p:nvSpPr>
          <p:cNvPr id="160" name="Google Shape;160;p6"/>
          <p:cNvSpPr txBox="1"/>
          <p:nvPr/>
        </p:nvSpPr>
        <p:spPr>
          <a:xfrm>
            <a:off x="5627446" y="2254207"/>
            <a:ext cx="8122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FALSE</a:t>
            </a:r>
            <a:endParaRPr/>
          </a:p>
        </p:txBody>
      </p:sp>
      <p:sp>
        <p:nvSpPr>
          <p:cNvPr id="161" name="Google Shape;161;p6"/>
          <p:cNvSpPr txBox="1"/>
          <p:nvPr/>
        </p:nvSpPr>
        <p:spPr>
          <a:xfrm>
            <a:off x="168617" y="222865"/>
            <a:ext cx="268158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First the Boolean Expression/ Logic</a:t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4343400" y="842703"/>
            <a:ext cx="457200" cy="457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</a:t>
            </a:r>
            <a:endParaRPr/>
          </a:p>
        </p:txBody>
      </p:sp>
      <p:cxnSp>
        <p:nvCxnSpPr>
          <p:cNvPr id="163" name="Google Shape;163;p6"/>
          <p:cNvCxnSpPr>
            <a:stCxn id="162" idx="4"/>
          </p:cNvCxnSpPr>
          <p:nvPr/>
        </p:nvCxnSpPr>
        <p:spPr>
          <a:xfrm>
            <a:off x="4572000" y="1299903"/>
            <a:ext cx="0" cy="82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/>
              <a:t>BOOLEAN EXPRESSIONS</a:t>
            </a:r>
            <a:endParaRPr/>
          </a:p>
        </p:txBody>
      </p:sp>
      <p:sp>
        <p:nvSpPr>
          <p:cNvPr id="169" name="Google Shape;169;p7"/>
          <p:cNvSpPr txBox="1"/>
          <p:nvPr>
            <p:ph idx="1" type="body"/>
          </p:nvPr>
        </p:nvSpPr>
        <p:spPr>
          <a:xfrm>
            <a:off x="1606045" y="2224261"/>
            <a:ext cx="5937900" cy="4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An expression that is True or False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False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Python determines these values with reference to comparison operators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2305050" y="3186666"/>
            <a:ext cx="266700" cy="6669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2571750" y="3335375"/>
            <a:ext cx="282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Special values in Python</a:t>
            </a:r>
            <a:endParaRPr/>
          </a:p>
        </p:txBody>
      </p:sp>
      <p:graphicFrame>
        <p:nvGraphicFramePr>
          <p:cNvPr id="172" name="Google Shape;172;p7"/>
          <p:cNvGraphicFramePr/>
          <p:nvPr/>
        </p:nvGraphicFramePr>
        <p:xfrm>
          <a:off x="1495650" y="49645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{73A8DBF5-CC09-4CC4-B048-8DF1F3AC4F0C}</a:tableStyleId>
              </a:tblPr>
              <a:tblGrid>
                <a:gridCol w="554425"/>
                <a:gridCol w="2645850"/>
                <a:gridCol w="804025"/>
                <a:gridCol w="2396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!=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is not equal to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&lt;=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is less than or equal to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&gt;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is more than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is the same as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is less than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is not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is not the same as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&gt;=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is more than or equal to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==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is the same as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 txBox="1"/>
          <p:nvPr>
            <p:ph type="title"/>
          </p:nvPr>
        </p:nvSpPr>
        <p:spPr>
          <a:xfrm>
            <a:off x="1106424" y="2386744"/>
            <a:ext cx="6940296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500"/>
              <a:buFont typeface="Gill Sans"/>
              <a:buNone/>
            </a:pPr>
            <a:r>
              <a:rPr lang="en-US"/>
              <a:t>CODE BREAK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/>
          <p:nvPr/>
        </p:nvSpPr>
        <p:spPr>
          <a:xfrm>
            <a:off x="3428999" y="546030"/>
            <a:ext cx="2286000" cy="914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‘five’</a:t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3336592" y="2101174"/>
            <a:ext cx="2470816" cy="1070043"/>
          </a:xfrm>
          <a:prstGeom prst="diamond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x == ‘five’</a:t>
            </a:r>
            <a:endParaRPr/>
          </a:p>
        </p:txBody>
      </p:sp>
      <p:cxnSp>
        <p:nvCxnSpPr>
          <p:cNvPr id="184" name="Google Shape;184;p9"/>
          <p:cNvCxnSpPr>
            <a:stCxn id="182" idx="4"/>
            <a:endCxn id="183" idx="0"/>
          </p:cNvCxnSpPr>
          <p:nvPr/>
        </p:nvCxnSpPr>
        <p:spPr>
          <a:xfrm>
            <a:off x="4571999" y="1460430"/>
            <a:ext cx="0" cy="64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" name="Google Shape;185;p9"/>
          <p:cNvCxnSpPr/>
          <p:nvPr/>
        </p:nvCxnSpPr>
        <p:spPr>
          <a:xfrm rot="10800000">
            <a:off x="2597280" y="2626467"/>
            <a:ext cx="724711" cy="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9"/>
          <p:cNvCxnSpPr/>
          <p:nvPr/>
        </p:nvCxnSpPr>
        <p:spPr>
          <a:xfrm rot="10800000">
            <a:off x="5773367" y="2636193"/>
            <a:ext cx="724711" cy="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9"/>
          <p:cNvSpPr txBox="1"/>
          <p:nvPr/>
        </p:nvSpPr>
        <p:spPr>
          <a:xfrm>
            <a:off x="2584312" y="2257133"/>
            <a:ext cx="757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TRUE</a:t>
            </a:r>
            <a:endParaRPr/>
          </a:p>
        </p:txBody>
      </p:sp>
      <p:sp>
        <p:nvSpPr>
          <p:cNvPr id="188" name="Google Shape;188;p9"/>
          <p:cNvSpPr txBox="1"/>
          <p:nvPr/>
        </p:nvSpPr>
        <p:spPr>
          <a:xfrm>
            <a:off x="5705270" y="2254207"/>
            <a:ext cx="8122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FALSE</a:t>
            </a:r>
            <a:endParaRPr/>
          </a:p>
        </p:txBody>
      </p:sp>
      <p:sp>
        <p:nvSpPr>
          <p:cNvPr id="189" name="Google Shape;189;p9"/>
          <p:cNvSpPr txBox="1"/>
          <p:nvPr/>
        </p:nvSpPr>
        <p:spPr>
          <a:xfrm>
            <a:off x="168617" y="222865"/>
            <a:ext cx="268158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First the Boolean Expression/ Logic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 txBox="1"/>
          <p:nvPr/>
        </p:nvSpPr>
        <p:spPr>
          <a:xfrm>
            <a:off x="168617" y="222865"/>
            <a:ext cx="268158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executed Expression given a TRUE Boolean Expression</a:t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1580744" y="3430254"/>
            <a:ext cx="2033081" cy="10019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print(‘the same’)</a:t>
            </a:r>
            <a:endParaRPr/>
          </a:p>
        </p:txBody>
      </p:sp>
      <p:cxnSp>
        <p:nvCxnSpPr>
          <p:cNvPr id="196" name="Google Shape;196;p10"/>
          <p:cNvCxnSpPr/>
          <p:nvPr/>
        </p:nvCxnSpPr>
        <p:spPr>
          <a:xfrm>
            <a:off x="2597284" y="2603403"/>
            <a:ext cx="0" cy="82685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7" name="Google Shape;197;p10"/>
          <p:cNvSpPr/>
          <p:nvPr/>
        </p:nvSpPr>
        <p:spPr>
          <a:xfrm>
            <a:off x="3428999" y="546030"/>
            <a:ext cx="2286000" cy="914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‘five’</a:t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3336592" y="2101174"/>
            <a:ext cx="2470816" cy="1070043"/>
          </a:xfrm>
          <a:prstGeom prst="diamond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x == ‘five’</a:t>
            </a:r>
            <a:endParaRPr/>
          </a:p>
        </p:txBody>
      </p:sp>
      <p:cxnSp>
        <p:nvCxnSpPr>
          <p:cNvPr id="199" name="Google Shape;199;p10"/>
          <p:cNvCxnSpPr>
            <a:stCxn id="197" idx="4"/>
            <a:endCxn id="198" idx="0"/>
          </p:cNvCxnSpPr>
          <p:nvPr/>
        </p:nvCxnSpPr>
        <p:spPr>
          <a:xfrm>
            <a:off x="4571999" y="1460430"/>
            <a:ext cx="0" cy="64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0" name="Google Shape;200;p10"/>
          <p:cNvCxnSpPr/>
          <p:nvPr/>
        </p:nvCxnSpPr>
        <p:spPr>
          <a:xfrm rot="10800000">
            <a:off x="2597280" y="2626467"/>
            <a:ext cx="724711" cy="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10"/>
          <p:cNvCxnSpPr/>
          <p:nvPr/>
        </p:nvCxnSpPr>
        <p:spPr>
          <a:xfrm rot="10800000">
            <a:off x="5773367" y="2636193"/>
            <a:ext cx="724711" cy="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10"/>
          <p:cNvSpPr txBox="1"/>
          <p:nvPr/>
        </p:nvSpPr>
        <p:spPr>
          <a:xfrm>
            <a:off x="2584312" y="2257133"/>
            <a:ext cx="757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TRUE</a:t>
            </a:r>
            <a:endParaRPr/>
          </a:p>
        </p:txBody>
      </p:sp>
      <p:sp>
        <p:nvSpPr>
          <p:cNvPr id="203" name="Google Shape;203;p10"/>
          <p:cNvSpPr txBox="1"/>
          <p:nvPr/>
        </p:nvSpPr>
        <p:spPr>
          <a:xfrm>
            <a:off x="5705270" y="2254207"/>
            <a:ext cx="8122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FALSE</a:t>
            </a:r>
            <a:endParaRPr/>
          </a:p>
        </p:txBody>
      </p:sp>
      <p:sp>
        <p:nvSpPr>
          <p:cNvPr id="204" name="Google Shape;204;p10"/>
          <p:cNvSpPr txBox="1"/>
          <p:nvPr/>
        </p:nvSpPr>
        <p:spPr>
          <a:xfrm>
            <a:off x="3609575" y="1890775"/>
            <a:ext cx="3529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if</a:t>
            </a:r>
            <a:endParaRPr/>
          </a:p>
        </p:txBody>
      </p:sp>
      <p:sp>
        <p:nvSpPr>
          <p:cNvPr id="205" name="Google Shape;205;p10"/>
          <p:cNvSpPr txBox="1"/>
          <p:nvPr/>
        </p:nvSpPr>
        <p:spPr>
          <a:xfrm>
            <a:off x="5179700" y="1839564"/>
            <a:ext cx="2632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"/>
          <p:cNvSpPr txBox="1"/>
          <p:nvPr/>
        </p:nvSpPr>
        <p:spPr>
          <a:xfrm>
            <a:off x="168617" y="222865"/>
            <a:ext cx="268158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executed Expression given a TRUE Boolean Expression</a:t>
            </a:r>
            <a:endParaRPr/>
          </a:p>
        </p:txBody>
      </p:sp>
      <p:sp>
        <p:nvSpPr>
          <p:cNvPr id="211" name="Google Shape;211;p11"/>
          <p:cNvSpPr txBox="1"/>
          <p:nvPr/>
        </p:nvSpPr>
        <p:spPr>
          <a:xfrm>
            <a:off x="6293794" y="222865"/>
            <a:ext cx="268158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executed Expression given a FALSE Boolean Expression</a:t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1580744" y="3430254"/>
            <a:ext cx="2033081" cy="10019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print(‘the same’)</a:t>
            </a:r>
            <a:endParaRPr/>
          </a:p>
        </p:txBody>
      </p:sp>
      <p:cxnSp>
        <p:nvCxnSpPr>
          <p:cNvPr id="213" name="Google Shape;213;p11"/>
          <p:cNvCxnSpPr/>
          <p:nvPr/>
        </p:nvCxnSpPr>
        <p:spPr>
          <a:xfrm>
            <a:off x="2597284" y="2603403"/>
            <a:ext cx="0" cy="82685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4" name="Google Shape;214;p11"/>
          <p:cNvSpPr/>
          <p:nvPr/>
        </p:nvSpPr>
        <p:spPr>
          <a:xfrm>
            <a:off x="3428999" y="546030"/>
            <a:ext cx="2286000" cy="914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‘Five’</a:t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3336592" y="2101174"/>
            <a:ext cx="2470816" cy="1070043"/>
          </a:xfrm>
          <a:prstGeom prst="diamond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x == ‘five’</a:t>
            </a:r>
            <a:endParaRPr/>
          </a:p>
        </p:txBody>
      </p:sp>
      <p:cxnSp>
        <p:nvCxnSpPr>
          <p:cNvPr id="216" name="Google Shape;216;p11"/>
          <p:cNvCxnSpPr>
            <a:stCxn id="214" idx="4"/>
            <a:endCxn id="215" idx="0"/>
          </p:cNvCxnSpPr>
          <p:nvPr/>
        </p:nvCxnSpPr>
        <p:spPr>
          <a:xfrm>
            <a:off x="4571999" y="1460430"/>
            <a:ext cx="0" cy="64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7" name="Google Shape;217;p11"/>
          <p:cNvCxnSpPr/>
          <p:nvPr/>
        </p:nvCxnSpPr>
        <p:spPr>
          <a:xfrm rot="10800000">
            <a:off x="2597280" y="2626467"/>
            <a:ext cx="724711" cy="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" name="Google Shape;218;p11"/>
          <p:cNvCxnSpPr/>
          <p:nvPr/>
        </p:nvCxnSpPr>
        <p:spPr>
          <a:xfrm rot="10800000">
            <a:off x="5773367" y="2636193"/>
            <a:ext cx="724711" cy="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11"/>
          <p:cNvSpPr txBox="1"/>
          <p:nvPr/>
        </p:nvSpPr>
        <p:spPr>
          <a:xfrm>
            <a:off x="2584312" y="2257133"/>
            <a:ext cx="757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TRUE</a:t>
            </a:r>
            <a:endParaRPr/>
          </a:p>
        </p:txBody>
      </p:sp>
      <p:sp>
        <p:nvSpPr>
          <p:cNvPr id="220" name="Google Shape;220;p11"/>
          <p:cNvSpPr txBox="1"/>
          <p:nvPr/>
        </p:nvSpPr>
        <p:spPr>
          <a:xfrm>
            <a:off x="5705270" y="2254207"/>
            <a:ext cx="8122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FALSE</a:t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5462081" y="3454552"/>
            <a:ext cx="2033081" cy="10019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print(‘not the same’)</a:t>
            </a:r>
            <a:endParaRPr/>
          </a:p>
        </p:txBody>
      </p:sp>
      <p:cxnSp>
        <p:nvCxnSpPr>
          <p:cNvPr id="222" name="Google Shape;222;p11"/>
          <p:cNvCxnSpPr/>
          <p:nvPr/>
        </p:nvCxnSpPr>
        <p:spPr>
          <a:xfrm>
            <a:off x="6478621" y="2627701"/>
            <a:ext cx="0" cy="82685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3" name="Google Shape;223;p11"/>
          <p:cNvSpPr txBox="1"/>
          <p:nvPr/>
        </p:nvSpPr>
        <p:spPr>
          <a:xfrm>
            <a:off x="3609575" y="1890775"/>
            <a:ext cx="3529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if</a:t>
            </a:r>
            <a:endParaRPr/>
          </a:p>
        </p:txBody>
      </p:sp>
      <p:sp>
        <p:nvSpPr>
          <p:cNvPr id="224" name="Google Shape;224;p11"/>
          <p:cNvSpPr txBox="1"/>
          <p:nvPr/>
        </p:nvSpPr>
        <p:spPr>
          <a:xfrm>
            <a:off x="5179700" y="1839564"/>
            <a:ext cx="2632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endParaRPr/>
          </a:p>
        </p:txBody>
      </p:sp>
      <p:sp>
        <p:nvSpPr>
          <p:cNvPr id="225" name="Google Shape;225;p11"/>
          <p:cNvSpPr txBox="1"/>
          <p:nvPr/>
        </p:nvSpPr>
        <p:spPr>
          <a:xfrm>
            <a:off x="5679379" y="2931332"/>
            <a:ext cx="7441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else</a:t>
            </a:r>
            <a:endParaRPr/>
          </a:p>
        </p:txBody>
      </p:sp>
      <p:sp>
        <p:nvSpPr>
          <p:cNvPr id="226" name="Google Shape;226;p11"/>
          <p:cNvSpPr txBox="1"/>
          <p:nvPr/>
        </p:nvSpPr>
        <p:spPr>
          <a:xfrm>
            <a:off x="6559688" y="2931332"/>
            <a:ext cx="2632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"/>
          <p:cNvSpPr txBox="1"/>
          <p:nvPr>
            <p:ph type="title"/>
          </p:nvPr>
        </p:nvSpPr>
        <p:spPr>
          <a:xfrm>
            <a:off x="1106424" y="2386744"/>
            <a:ext cx="6940296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500"/>
              <a:buFont typeface="Gill Sans"/>
              <a:buNone/>
            </a:pPr>
            <a:r>
              <a:rPr lang="en-US"/>
              <a:t>CODE BREAK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"/>
          <p:cNvSpPr/>
          <p:nvPr/>
        </p:nvSpPr>
        <p:spPr>
          <a:xfrm>
            <a:off x="1580744" y="3430254"/>
            <a:ext cx="2033081" cy="10019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print(‘taller’)</a:t>
            </a:r>
            <a:endParaRPr/>
          </a:p>
        </p:txBody>
      </p:sp>
      <p:cxnSp>
        <p:nvCxnSpPr>
          <p:cNvPr id="237" name="Google Shape;237;p13"/>
          <p:cNvCxnSpPr/>
          <p:nvPr/>
        </p:nvCxnSpPr>
        <p:spPr>
          <a:xfrm>
            <a:off x="2597284" y="2603403"/>
            <a:ext cx="0" cy="82685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8" name="Google Shape;238;p13"/>
          <p:cNvSpPr/>
          <p:nvPr/>
        </p:nvSpPr>
        <p:spPr>
          <a:xfrm>
            <a:off x="3428999" y="546030"/>
            <a:ext cx="2286000" cy="914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sp>
        <p:nvSpPr>
          <p:cNvPr id="239" name="Google Shape;239;p13"/>
          <p:cNvSpPr/>
          <p:nvPr/>
        </p:nvSpPr>
        <p:spPr>
          <a:xfrm>
            <a:off x="3336592" y="2101174"/>
            <a:ext cx="2470816" cy="1070043"/>
          </a:xfrm>
          <a:prstGeom prst="diamond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 &gt; 6</a:t>
            </a:r>
            <a:endParaRPr/>
          </a:p>
        </p:txBody>
      </p:sp>
      <p:cxnSp>
        <p:nvCxnSpPr>
          <p:cNvPr id="240" name="Google Shape;240;p13"/>
          <p:cNvCxnSpPr>
            <a:stCxn id="238" idx="4"/>
            <a:endCxn id="239" idx="0"/>
          </p:cNvCxnSpPr>
          <p:nvPr/>
        </p:nvCxnSpPr>
        <p:spPr>
          <a:xfrm>
            <a:off x="4571999" y="1460430"/>
            <a:ext cx="0" cy="64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" name="Google Shape;241;p13"/>
          <p:cNvCxnSpPr/>
          <p:nvPr/>
        </p:nvCxnSpPr>
        <p:spPr>
          <a:xfrm rot="10800000">
            <a:off x="2597280" y="2626467"/>
            <a:ext cx="724711" cy="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13"/>
          <p:cNvCxnSpPr/>
          <p:nvPr/>
        </p:nvCxnSpPr>
        <p:spPr>
          <a:xfrm rot="10800000">
            <a:off x="5773367" y="2636193"/>
            <a:ext cx="724711" cy="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13"/>
          <p:cNvSpPr txBox="1"/>
          <p:nvPr/>
        </p:nvSpPr>
        <p:spPr>
          <a:xfrm>
            <a:off x="2584312" y="2257133"/>
            <a:ext cx="757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TRUE</a:t>
            </a:r>
            <a:endParaRPr/>
          </a:p>
        </p:txBody>
      </p:sp>
      <p:sp>
        <p:nvSpPr>
          <p:cNvPr id="244" name="Google Shape;244;p13"/>
          <p:cNvSpPr txBox="1"/>
          <p:nvPr/>
        </p:nvSpPr>
        <p:spPr>
          <a:xfrm>
            <a:off x="5705270" y="2254207"/>
            <a:ext cx="8122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FALSE</a:t>
            </a:r>
            <a:endParaRPr/>
          </a:p>
        </p:txBody>
      </p:sp>
      <p:sp>
        <p:nvSpPr>
          <p:cNvPr id="245" name="Google Shape;245;p13"/>
          <p:cNvSpPr/>
          <p:nvPr/>
        </p:nvSpPr>
        <p:spPr>
          <a:xfrm>
            <a:off x="5462081" y="3454552"/>
            <a:ext cx="2033081" cy="10019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print(‘shorter’)</a:t>
            </a:r>
            <a:endParaRPr/>
          </a:p>
        </p:txBody>
      </p:sp>
      <p:cxnSp>
        <p:nvCxnSpPr>
          <p:cNvPr id="246" name="Google Shape;246;p13"/>
          <p:cNvCxnSpPr/>
          <p:nvPr/>
        </p:nvCxnSpPr>
        <p:spPr>
          <a:xfrm>
            <a:off x="6478621" y="2627701"/>
            <a:ext cx="0" cy="82685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7" name="Google Shape;247;p13"/>
          <p:cNvSpPr txBox="1"/>
          <p:nvPr/>
        </p:nvSpPr>
        <p:spPr>
          <a:xfrm>
            <a:off x="3609575" y="1890775"/>
            <a:ext cx="3529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if</a:t>
            </a:r>
            <a:endParaRPr/>
          </a:p>
        </p:txBody>
      </p:sp>
      <p:sp>
        <p:nvSpPr>
          <p:cNvPr id="248" name="Google Shape;248;p13"/>
          <p:cNvSpPr txBox="1"/>
          <p:nvPr/>
        </p:nvSpPr>
        <p:spPr>
          <a:xfrm>
            <a:off x="5179700" y="1839564"/>
            <a:ext cx="2632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endParaRPr/>
          </a:p>
        </p:txBody>
      </p:sp>
      <p:sp>
        <p:nvSpPr>
          <p:cNvPr id="249" name="Google Shape;249;p13"/>
          <p:cNvSpPr txBox="1"/>
          <p:nvPr/>
        </p:nvSpPr>
        <p:spPr>
          <a:xfrm>
            <a:off x="5679379" y="2931332"/>
            <a:ext cx="7441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else</a:t>
            </a:r>
            <a:endParaRPr/>
          </a:p>
        </p:txBody>
      </p:sp>
      <p:sp>
        <p:nvSpPr>
          <p:cNvPr id="250" name="Google Shape;250;p13"/>
          <p:cNvSpPr txBox="1"/>
          <p:nvPr/>
        </p:nvSpPr>
        <p:spPr>
          <a:xfrm>
            <a:off x="6559688" y="2931332"/>
            <a:ext cx="2632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endParaRPr/>
          </a:p>
        </p:txBody>
      </p:sp>
      <p:sp>
        <p:nvSpPr>
          <p:cNvPr id="251" name="Google Shape;251;p13"/>
          <p:cNvSpPr txBox="1"/>
          <p:nvPr/>
        </p:nvSpPr>
        <p:spPr>
          <a:xfrm>
            <a:off x="2430291" y="5081953"/>
            <a:ext cx="428341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PROBLEM: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6 is not shorter than 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"/>
          <p:cNvSpPr txBox="1"/>
          <p:nvPr/>
        </p:nvSpPr>
        <p:spPr>
          <a:xfrm>
            <a:off x="6293794" y="222865"/>
            <a:ext cx="268158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Use ‘elif’ for additional evaluations</a:t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1580744" y="3430254"/>
            <a:ext cx="2033081" cy="10019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print(‘taller’)</a:t>
            </a:r>
            <a:endParaRPr/>
          </a:p>
        </p:txBody>
      </p:sp>
      <p:cxnSp>
        <p:nvCxnSpPr>
          <p:cNvPr id="258" name="Google Shape;258;p14"/>
          <p:cNvCxnSpPr/>
          <p:nvPr/>
        </p:nvCxnSpPr>
        <p:spPr>
          <a:xfrm>
            <a:off x="2597284" y="2603403"/>
            <a:ext cx="0" cy="82685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9" name="Google Shape;259;p14"/>
          <p:cNvSpPr/>
          <p:nvPr/>
        </p:nvSpPr>
        <p:spPr>
          <a:xfrm>
            <a:off x="3428999" y="546030"/>
            <a:ext cx="2286000" cy="914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sp>
        <p:nvSpPr>
          <p:cNvPr id="260" name="Google Shape;260;p14"/>
          <p:cNvSpPr/>
          <p:nvPr/>
        </p:nvSpPr>
        <p:spPr>
          <a:xfrm>
            <a:off x="3336592" y="2101174"/>
            <a:ext cx="2470816" cy="1070043"/>
          </a:xfrm>
          <a:prstGeom prst="diamond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 &gt; 6</a:t>
            </a:r>
            <a:endParaRPr/>
          </a:p>
        </p:txBody>
      </p:sp>
      <p:cxnSp>
        <p:nvCxnSpPr>
          <p:cNvPr id="261" name="Google Shape;261;p14"/>
          <p:cNvCxnSpPr>
            <a:stCxn id="259" idx="4"/>
            <a:endCxn id="260" idx="0"/>
          </p:cNvCxnSpPr>
          <p:nvPr/>
        </p:nvCxnSpPr>
        <p:spPr>
          <a:xfrm>
            <a:off x="4571999" y="1460430"/>
            <a:ext cx="0" cy="64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2" name="Google Shape;262;p14"/>
          <p:cNvCxnSpPr/>
          <p:nvPr/>
        </p:nvCxnSpPr>
        <p:spPr>
          <a:xfrm rot="10800000">
            <a:off x="2597280" y="2626467"/>
            <a:ext cx="724711" cy="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p14"/>
          <p:cNvCxnSpPr/>
          <p:nvPr/>
        </p:nvCxnSpPr>
        <p:spPr>
          <a:xfrm rot="10800000">
            <a:off x="5773367" y="2636193"/>
            <a:ext cx="724711" cy="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14"/>
          <p:cNvSpPr txBox="1"/>
          <p:nvPr/>
        </p:nvSpPr>
        <p:spPr>
          <a:xfrm>
            <a:off x="2584312" y="2257133"/>
            <a:ext cx="757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TRUE</a:t>
            </a:r>
            <a:endParaRPr/>
          </a:p>
        </p:txBody>
      </p:sp>
      <p:sp>
        <p:nvSpPr>
          <p:cNvPr id="265" name="Google Shape;265;p14"/>
          <p:cNvSpPr txBox="1"/>
          <p:nvPr/>
        </p:nvSpPr>
        <p:spPr>
          <a:xfrm>
            <a:off x="5705270" y="2254207"/>
            <a:ext cx="8122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FALSE</a:t>
            </a:r>
            <a:endParaRPr/>
          </a:p>
        </p:txBody>
      </p:sp>
      <p:cxnSp>
        <p:nvCxnSpPr>
          <p:cNvPr id="266" name="Google Shape;266;p14"/>
          <p:cNvCxnSpPr/>
          <p:nvPr/>
        </p:nvCxnSpPr>
        <p:spPr>
          <a:xfrm>
            <a:off x="6478621" y="2627701"/>
            <a:ext cx="0" cy="82685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7" name="Google Shape;267;p14"/>
          <p:cNvSpPr txBox="1"/>
          <p:nvPr/>
        </p:nvSpPr>
        <p:spPr>
          <a:xfrm>
            <a:off x="3609575" y="1890775"/>
            <a:ext cx="3529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if</a:t>
            </a:r>
            <a:endParaRPr/>
          </a:p>
        </p:txBody>
      </p:sp>
      <p:sp>
        <p:nvSpPr>
          <p:cNvPr id="268" name="Google Shape;268;p14"/>
          <p:cNvSpPr txBox="1"/>
          <p:nvPr/>
        </p:nvSpPr>
        <p:spPr>
          <a:xfrm>
            <a:off x="5179700" y="1839564"/>
            <a:ext cx="2632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endParaRPr/>
          </a:p>
        </p:txBody>
      </p:sp>
      <p:sp>
        <p:nvSpPr>
          <p:cNvPr id="269" name="Google Shape;269;p14"/>
          <p:cNvSpPr txBox="1"/>
          <p:nvPr/>
        </p:nvSpPr>
        <p:spPr>
          <a:xfrm>
            <a:off x="5786384" y="2931332"/>
            <a:ext cx="6030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elif</a:t>
            </a:r>
            <a:endParaRPr sz="2800">
              <a:solidFill>
                <a:srgbClr val="00B05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0" name="Google Shape;270;p14"/>
          <p:cNvSpPr txBox="1"/>
          <p:nvPr/>
        </p:nvSpPr>
        <p:spPr>
          <a:xfrm>
            <a:off x="6559688" y="2931332"/>
            <a:ext cx="2632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endParaRPr/>
          </a:p>
        </p:txBody>
      </p:sp>
      <p:sp>
        <p:nvSpPr>
          <p:cNvPr id="271" name="Google Shape;271;p14"/>
          <p:cNvSpPr/>
          <p:nvPr/>
        </p:nvSpPr>
        <p:spPr>
          <a:xfrm>
            <a:off x="5233486" y="3454470"/>
            <a:ext cx="2470816" cy="1070043"/>
          </a:xfrm>
          <a:prstGeom prst="diamond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 == 6</a:t>
            </a:r>
            <a:endParaRPr/>
          </a:p>
        </p:txBody>
      </p:sp>
      <p:cxnSp>
        <p:nvCxnSpPr>
          <p:cNvPr id="272" name="Google Shape;272;p14"/>
          <p:cNvCxnSpPr>
            <a:stCxn id="273" idx="2"/>
          </p:cNvCxnSpPr>
          <p:nvPr/>
        </p:nvCxnSpPr>
        <p:spPr>
          <a:xfrm flipH="1">
            <a:off x="7670193" y="3976835"/>
            <a:ext cx="338100" cy="12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14"/>
          <p:cNvSpPr txBox="1"/>
          <p:nvPr/>
        </p:nvSpPr>
        <p:spPr>
          <a:xfrm>
            <a:off x="7602164" y="3607503"/>
            <a:ext cx="8122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FALSE</a:t>
            </a:r>
            <a:endParaRPr/>
          </a:p>
        </p:txBody>
      </p:sp>
      <p:sp>
        <p:nvSpPr>
          <p:cNvPr id="274" name="Google Shape;274;p14"/>
          <p:cNvSpPr/>
          <p:nvPr/>
        </p:nvSpPr>
        <p:spPr>
          <a:xfrm>
            <a:off x="6979592" y="4807848"/>
            <a:ext cx="2033081" cy="10019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print(‘shorter’)</a:t>
            </a:r>
            <a:endParaRPr/>
          </a:p>
        </p:txBody>
      </p:sp>
      <p:cxnSp>
        <p:nvCxnSpPr>
          <p:cNvPr id="275" name="Google Shape;275;p14"/>
          <p:cNvCxnSpPr/>
          <p:nvPr/>
        </p:nvCxnSpPr>
        <p:spPr>
          <a:xfrm>
            <a:off x="8025318" y="3971269"/>
            <a:ext cx="0" cy="82685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6" name="Google Shape;276;p14"/>
          <p:cNvSpPr/>
          <p:nvPr/>
        </p:nvSpPr>
        <p:spPr>
          <a:xfrm>
            <a:off x="3882953" y="4807848"/>
            <a:ext cx="2033081" cy="10019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print(‘same’)</a:t>
            </a:r>
            <a:endParaRPr/>
          </a:p>
        </p:txBody>
      </p:sp>
      <p:cxnSp>
        <p:nvCxnSpPr>
          <p:cNvPr id="277" name="Google Shape;277;p14"/>
          <p:cNvCxnSpPr/>
          <p:nvPr/>
        </p:nvCxnSpPr>
        <p:spPr>
          <a:xfrm>
            <a:off x="4928679" y="3971269"/>
            <a:ext cx="0" cy="82685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8" name="Google Shape;278;p14"/>
          <p:cNvCxnSpPr/>
          <p:nvPr/>
        </p:nvCxnSpPr>
        <p:spPr>
          <a:xfrm flipH="1">
            <a:off x="4911650" y="3972220"/>
            <a:ext cx="338032" cy="1265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14"/>
          <p:cNvSpPr txBox="1"/>
          <p:nvPr/>
        </p:nvSpPr>
        <p:spPr>
          <a:xfrm>
            <a:off x="4630657" y="3589888"/>
            <a:ext cx="8122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TRUE</a:t>
            </a:r>
            <a:endParaRPr/>
          </a:p>
        </p:txBody>
      </p:sp>
      <p:sp>
        <p:nvSpPr>
          <p:cNvPr id="280" name="Google Shape;280;p14"/>
          <p:cNvSpPr txBox="1"/>
          <p:nvPr/>
        </p:nvSpPr>
        <p:spPr>
          <a:xfrm>
            <a:off x="7227120" y="4330873"/>
            <a:ext cx="7441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else</a:t>
            </a:r>
            <a:endParaRPr/>
          </a:p>
        </p:txBody>
      </p:sp>
      <p:sp>
        <p:nvSpPr>
          <p:cNvPr id="281" name="Google Shape;281;p14"/>
          <p:cNvSpPr txBox="1"/>
          <p:nvPr/>
        </p:nvSpPr>
        <p:spPr>
          <a:xfrm>
            <a:off x="8107429" y="4330873"/>
            <a:ext cx="2632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"/>
          <p:cNvSpPr txBox="1"/>
          <p:nvPr>
            <p:ph type="title"/>
          </p:nvPr>
        </p:nvSpPr>
        <p:spPr>
          <a:xfrm>
            <a:off x="1106424" y="2386744"/>
            <a:ext cx="6940296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500"/>
              <a:buFont typeface="Gill Sans"/>
              <a:buNone/>
            </a:pPr>
            <a:r>
              <a:rPr lang="en-US"/>
              <a:t>CODE BREAK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"/>
          <p:cNvSpPr txBox="1"/>
          <p:nvPr/>
        </p:nvSpPr>
        <p:spPr>
          <a:xfrm>
            <a:off x="6293794" y="222865"/>
            <a:ext cx="268158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Use ‘and’ for evaluation ranges</a:t>
            </a:r>
            <a:endParaRPr/>
          </a:p>
        </p:txBody>
      </p:sp>
      <p:sp>
        <p:nvSpPr>
          <p:cNvPr id="292" name="Google Shape;292;p16"/>
          <p:cNvSpPr/>
          <p:nvPr/>
        </p:nvSpPr>
        <p:spPr>
          <a:xfrm>
            <a:off x="1580744" y="3430254"/>
            <a:ext cx="2033081" cy="10019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print(‘taller’)</a:t>
            </a:r>
            <a:endParaRPr/>
          </a:p>
        </p:txBody>
      </p:sp>
      <p:cxnSp>
        <p:nvCxnSpPr>
          <p:cNvPr id="293" name="Google Shape;293;p16"/>
          <p:cNvCxnSpPr/>
          <p:nvPr/>
        </p:nvCxnSpPr>
        <p:spPr>
          <a:xfrm>
            <a:off x="2597284" y="2603403"/>
            <a:ext cx="0" cy="82685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4" name="Google Shape;294;p16"/>
          <p:cNvSpPr/>
          <p:nvPr/>
        </p:nvSpPr>
        <p:spPr>
          <a:xfrm>
            <a:off x="3428999" y="546030"/>
            <a:ext cx="2286000" cy="914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sp>
        <p:nvSpPr>
          <p:cNvPr id="295" name="Google Shape;295;p16"/>
          <p:cNvSpPr/>
          <p:nvPr/>
        </p:nvSpPr>
        <p:spPr>
          <a:xfrm>
            <a:off x="3336592" y="2101174"/>
            <a:ext cx="2470816" cy="1070043"/>
          </a:xfrm>
          <a:prstGeom prst="diamond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 &gt; 6</a:t>
            </a:r>
            <a:endParaRPr/>
          </a:p>
        </p:txBody>
      </p:sp>
      <p:cxnSp>
        <p:nvCxnSpPr>
          <p:cNvPr id="296" name="Google Shape;296;p16"/>
          <p:cNvCxnSpPr>
            <a:stCxn id="294" idx="4"/>
            <a:endCxn id="295" idx="0"/>
          </p:cNvCxnSpPr>
          <p:nvPr/>
        </p:nvCxnSpPr>
        <p:spPr>
          <a:xfrm>
            <a:off x="4571999" y="1460430"/>
            <a:ext cx="0" cy="64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7" name="Google Shape;297;p16"/>
          <p:cNvCxnSpPr/>
          <p:nvPr/>
        </p:nvCxnSpPr>
        <p:spPr>
          <a:xfrm rot="10800000">
            <a:off x="2597280" y="2626467"/>
            <a:ext cx="724711" cy="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16"/>
          <p:cNvCxnSpPr/>
          <p:nvPr/>
        </p:nvCxnSpPr>
        <p:spPr>
          <a:xfrm rot="10800000">
            <a:off x="5773367" y="2636193"/>
            <a:ext cx="724711" cy="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16"/>
          <p:cNvSpPr txBox="1"/>
          <p:nvPr/>
        </p:nvSpPr>
        <p:spPr>
          <a:xfrm>
            <a:off x="2584312" y="2257133"/>
            <a:ext cx="757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TRUE</a:t>
            </a:r>
            <a:endParaRPr/>
          </a:p>
        </p:txBody>
      </p:sp>
      <p:sp>
        <p:nvSpPr>
          <p:cNvPr id="300" name="Google Shape;300;p16"/>
          <p:cNvSpPr txBox="1"/>
          <p:nvPr/>
        </p:nvSpPr>
        <p:spPr>
          <a:xfrm>
            <a:off x="5705270" y="2254207"/>
            <a:ext cx="8122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FALSE</a:t>
            </a:r>
            <a:endParaRPr/>
          </a:p>
        </p:txBody>
      </p:sp>
      <p:cxnSp>
        <p:nvCxnSpPr>
          <p:cNvPr id="301" name="Google Shape;301;p16"/>
          <p:cNvCxnSpPr/>
          <p:nvPr/>
        </p:nvCxnSpPr>
        <p:spPr>
          <a:xfrm>
            <a:off x="6478621" y="2627701"/>
            <a:ext cx="0" cy="82685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2" name="Google Shape;302;p16"/>
          <p:cNvSpPr txBox="1"/>
          <p:nvPr/>
        </p:nvSpPr>
        <p:spPr>
          <a:xfrm>
            <a:off x="3609575" y="1890775"/>
            <a:ext cx="3529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if</a:t>
            </a:r>
            <a:endParaRPr/>
          </a:p>
        </p:txBody>
      </p:sp>
      <p:sp>
        <p:nvSpPr>
          <p:cNvPr id="303" name="Google Shape;303;p16"/>
          <p:cNvSpPr txBox="1"/>
          <p:nvPr/>
        </p:nvSpPr>
        <p:spPr>
          <a:xfrm>
            <a:off x="5179700" y="1839564"/>
            <a:ext cx="2632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endParaRPr/>
          </a:p>
        </p:txBody>
      </p:sp>
      <p:sp>
        <p:nvSpPr>
          <p:cNvPr id="304" name="Google Shape;304;p16"/>
          <p:cNvSpPr txBox="1"/>
          <p:nvPr/>
        </p:nvSpPr>
        <p:spPr>
          <a:xfrm>
            <a:off x="5786384" y="2931332"/>
            <a:ext cx="6030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elif</a:t>
            </a:r>
            <a:endParaRPr sz="2800">
              <a:solidFill>
                <a:srgbClr val="00B05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5" name="Google Shape;305;p16"/>
          <p:cNvSpPr txBox="1"/>
          <p:nvPr/>
        </p:nvSpPr>
        <p:spPr>
          <a:xfrm>
            <a:off x="6559688" y="2931332"/>
            <a:ext cx="2632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endParaRPr/>
          </a:p>
        </p:txBody>
      </p:sp>
      <p:sp>
        <p:nvSpPr>
          <p:cNvPr id="306" name="Google Shape;306;p16"/>
          <p:cNvSpPr/>
          <p:nvPr/>
        </p:nvSpPr>
        <p:spPr>
          <a:xfrm>
            <a:off x="5233486" y="3454470"/>
            <a:ext cx="2470816" cy="1070043"/>
          </a:xfrm>
          <a:prstGeom prst="diamond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h&lt;=6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and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h&gt;=5</a:t>
            </a:r>
            <a:endParaRPr/>
          </a:p>
        </p:txBody>
      </p:sp>
      <p:cxnSp>
        <p:nvCxnSpPr>
          <p:cNvPr id="307" name="Google Shape;307;p16"/>
          <p:cNvCxnSpPr>
            <a:stCxn id="308" idx="2"/>
          </p:cNvCxnSpPr>
          <p:nvPr/>
        </p:nvCxnSpPr>
        <p:spPr>
          <a:xfrm flipH="1">
            <a:off x="7670193" y="3976835"/>
            <a:ext cx="338100" cy="12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16"/>
          <p:cNvSpPr txBox="1"/>
          <p:nvPr/>
        </p:nvSpPr>
        <p:spPr>
          <a:xfrm>
            <a:off x="7602164" y="3607503"/>
            <a:ext cx="8122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FALSE</a:t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6979592" y="4807848"/>
            <a:ext cx="2033081" cy="10019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print(‘shorter’)</a:t>
            </a:r>
            <a:endParaRPr/>
          </a:p>
        </p:txBody>
      </p:sp>
      <p:cxnSp>
        <p:nvCxnSpPr>
          <p:cNvPr id="310" name="Google Shape;310;p16"/>
          <p:cNvCxnSpPr/>
          <p:nvPr/>
        </p:nvCxnSpPr>
        <p:spPr>
          <a:xfrm>
            <a:off x="8025318" y="3971269"/>
            <a:ext cx="0" cy="82685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1" name="Google Shape;311;p16"/>
          <p:cNvSpPr/>
          <p:nvPr/>
        </p:nvSpPr>
        <p:spPr>
          <a:xfrm>
            <a:off x="3882953" y="4807848"/>
            <a:ext cx="2033081" cy="10019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print(‘same’)</a:t>
            </a:r>
            <a:endParaRPr/>
          </a:p>
        </p:txBody>
      </p:sp>
      <p:cxnSp>
        <p:nvCxnSpPr>
          <p:cNvPr id="312" name="Google Shape;312;p16"/>
          <p:cNvCxnSpPr/>
          <p:nvPr/>
        </p:nvCxnSpPr>
        <p:spPr>
          <a:xfrm>
            <a:off x="4928679" y="3971269"/>
            <a:ext cx="0" cy="82685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3" name="Google Shape;313;p16"/>
          <p:cNvCxnSpPr/>
          <p:nvPr/>
        </p:nvCxnSpPr>
        <p:spPr>
          <a:xfrm flipH="1">
            <a:off x="4911650" y="3972220"/>
            <a:ext cx="338032" cy="1265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16"/>
          <p:cNvSpPr txBox="1"/>
          <p:nvPr/>
        </p:nvSpPr>
        <p:spPr>
          <a:xfrm>
            <a:off x="4630657" y="3589888"/>
            <a:ext cx="8122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TRUE</a:t>
            </a:r>
            <a:endParaRPr/>
          </a:p>
        </p:txBody>
      </p:sp>
      <p:sp>
        <p:nvSpPr>
          <p:cNvPr id="315" name="Google Shape;315;p16"/>
          <p:cNvSpPr txBox="1"/>
          <p:nvPr/>
        </p:nvSpPr>
        <p:spPr>
          <a:xfrm>
            <a:off x="7227120" y="4330873"/>
            <a:ext cx="7441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else</a:t>
            </a:r>
            <a:endParaRPr/>
          </a:p>
        </p:txBody>
      </p:sp>
      <p:sp>
        <p:nvSpPr>
          <p:cNvPr id="316" name="Google Shape;316;p16"/>
          <p:cNvSpPr txBox="1"/>
          <p:nvPr/>
        </p:nvSpPr>
        <p:spPr>
          <a:xfrm>
            <a:off x="8107429" y="4330873"/>
            <a:ext cx="2632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7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600"/>
              <a:buFont typeface="Proxima Nova"/>
              <a:buNone/>
            </a:pPr>
            <a:r>
              <a:rPr b="0" i="0" lang="en-US">
                <a:solidFill>
                  <a:srgbClr val="282828"/>
                </a:solidFill>
                <a:latin typeface="Proxima Nova"/>
                <a:ea typeface="Proxima Nova"/>
                <a:cs typeface="Proxima Nova"/>
                <a:sym typeface="Proxima Nova"/>
              </a:rPr>
              <a:t>WHAT IS A FUNCTION?</a:t>
            </a:r>
            <a:endParaRPr/>
          </a:p>
        </p:txBody>
      </p:sp>
      <p:sp>
        <p:nvSpPr>
          <p:cNvPr id="322" name="Google Shape;322;p17"/>
          <p:cNvSpPr txBox="1"/>
          <p:nvPr>
            <p:ph idx="1" type="body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A function is a named sequence of statements that performs a computation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8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/>
              <a:t>WHY USE FUNCTIONS?</a:t>
            </a:r>
            <a:endParaRPr/>
          </a:p>
        </p:txBody>
      </p:sp>
      <p:sp>
        <p:nvSpPr>
          <p:cNvPr id="328" name="Google Shape;328;p18"/>
          <p:cNvSpPr txBox="1"/>
          <p:nvPr>
            <p:ph idx="1" type="body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Allows the programmer to reuse the same set of instructions but with different values, in the same or different programs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Can eliminate repetitive code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Functions segment code in a way that makes it easier to understand and debug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9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334" name="Google Shape;334;p19"/>
          <p:cNvSpPr txBox="1"/>
          <p:nvPr>
            <p:ph idx="1" type="body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type()</a:t>
            </a:r>
            <a:br>
              <a:rPr lang="en-US"/>
            </a:b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print()</a:t>
            </a:r>
            <a:br>
              <a:rPr lang="en-US"/>
            </a:b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input()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…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340" name="Google Shape;340;p20"/>
          <p:cNvSpPr txBox="1"/>
          <p:nvPr>
            <p:ph idx="1" type="body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type ()</a:t>
            </a:r>
            <a:br>
              <a:rPr lang="en-US"/>
            </a:br>
            <a:endParaRPr/>
          </a:p>
        </p:txBody>
      </p:sp>
      <p:cxnSp>
        <p:nvCxnSpPr>
          <p:cNvPr id="341" name="Google Shape;341;p20"/>
          <p:cNvCxnSpPr/>
          <p:nvPr/>
        </p:nvCxnSpPr>
        <p:spPr>
          <a:xfrm flipH="1" rot="10800000">
            <a:off x="3305175" y="3886201"/>
            <a:ext cx="1038225" cy="604835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2" name="Google Shape;342;p20"/>
          <p:cNvCxnSpPr/>
          <p:nvPr/>
        </p:nvCxnSpPr>
        <p:spPr>
          <a:xfrm rot="10800000">
            <a:off x="4914896" y="3886201"/>
            <a:ext cx="1127635" cy="604835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3" name="Google Shape;343;p20"/>
          <p:cNvSpPr txBox="1"/>
          <p:nvPr/>
        </p:nvSpPr>
        <p:spPr>
          <a:xfrm>
            <a:off x="1600200" y="4491036"/>
            <a:ext cx="2914653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Defined function</a:t>
            </a:r>
            <a:endParaRPr/>
          </a:p>
          <a:p>
            <a:pPr indent="-2857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Char char="-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Follows same naming convention as variables</a:t>
            </a:r>
            <a:endParaRPr/>
          </a:p>
          <a:p>
            <a:pPr indent="-2857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Char char="-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Python – built in functions and ability to define functions</a:t>
            </a:r>
            <a:endParaRPr/>
          </a:p>
        </p:txBody>
      </p:sp>
      <p:sp>
        <p:nvSpPr>
          <p:cNvPr id="344" name="Google Shape;344;p20"/>
          <p:cNvSpPr txBox="1"/>
          <p:nvPr/>
        </p:nvSpPr>
        <p:spPr>
          <a:xfrm>
            <a:off x="4756656" y="4495797"/>
            <a:ext cx="2914653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Value or variable that is passed through function</a:t>
            </a:r>
            <a:endParaRPr/>
          </a:p>
          <a:p>
            <a:pPr indent="-2857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Char char="-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Called “argument” or “parameter”</a:t>
            </a:r>
            <a:endParaRPr/>
          </a:p>
          <a:p>
            <a:pPr indent="-2857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Char char="-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Often changes with multiple iterations of function execution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1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600"/>
              <a:buFont typeface="Proxima Nova"/>
              <a:buNone/>
            </a:pPr>
            <a:r>
              <a:rPr lang="en-US">
                <a:solidFill>
                  <a:srgbClr val="282828"/>
                </a:solidFill>
                <a:latin typeface="Proxima Nova"/>
                <a:ea typeface="Proxima Nova"/>
                <a:cs typeface="Proxima Nova"/>
                <a:sym typeface="Proxima Nova"/>
              </a:rPr>
              <a:t>CREATING A NEW FUNCTION</a:t>
            </a:r>
            <a:endParaRPr/>
          </a:p>
        </p:txBody>
      </p:sp>
      <p:grpSp>
        <p:nvGrpSpPr>
          <p:cNvPr id="350" name="Google Shape;350;p21"/>
          <p:cNvGrpSpPr/>
          <p:nvPr/>
        </p:nvGrpSpPr>
        <p:grpSpPr>
          <a:xfrm>
            <a:off x="1606045" y="2913426"/>
            <a:ext cx="6537830" cy="1791163"/>
            <a:chOff x="1606045" y="4411570"/>
            <a:chExt cx="6499730" cy="1791163"/>
          </a:xfrm>
        </p:grpSpPr>
        <p:sp>
          <p:nvSpPr>
            <p:cNvPr id="351" name="Google Shape;351;p21"/>
            <p:cNvSpPr txBox="1"/>
            <p:nvPr/>
          </p:nvSpPr>
          <p:spPr>
            <a:xfrm>
              <a:off x="2355130" y="4591897"/>
              <a:ext cx="54540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Defining function with name and sequence of statements</a:t>
              </a:r>
              <a:endParaRPr/>
            </a:p>
          </p:txBody>
        </p:sp>
        <p:sp>
          <p:nvSpPr>
            <p:cNvPr id="352" name="Google Shape;352;p21"/>
            <p:cNvSpPr txBox="1"/>
            <p:nvPr/>
          </p:nvSpPr>
          <p:spPr>
            <a:xfrm>
              <a:off x="2358017" y="5498567"/>
              <a:ext cx="574775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“Calling” a function for execution</a:t>
              </a:r>
              <a:endParaRPr/>
            </a:p>
          </p:txBody>
        </p:sp>
        <p:pic>
          <p:nvPicPr>
            <p:cNvPr descr="Colored Numbered Circles Using Pure CSS &amp; HTML" id="353" name="Google Shape;353;p21"/>
            <p:cNvPicPr preferRelativeResize="0"/>
            <p:nvPr/>
          </p:nvPicPr>
          <p:blipFill rotWithShape="1">
            <a:blip r:embed="rId3">
              <a:alphaModFix/>
            </a:blip>
            <a:srcRect b="21541" l="5610" r="64634" t="18919"/>
            <a:stretch/>
          </p:blipFill>
          <p:spPr>
            <a:xfrm>
              <a:off x="1606045" y="4411570"/>
              <a:ext cx="712283" cy="7299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lored Numbered Circles Using Pure CSS &amp; HTML" id="354" name="Google Shape;354;p21"/>
            <p:cNvPicPr preferRelativeResize="0"/>
            <p:nvPr/>
          </p:nvPicPr>
          <p:blipFill rotWithShape="1">
            <a:blip r:embed="rId3">
              <a:alphaModFix/>
            </a:blip>
            <a:srcRect b="24603" l="34552" r="37153" t="19206"/>
            <a:stretch/>
          </p:blipFill>
          <p:spPr>
            <a:xfrm>
              <a:off x="1606045" y="5440733"/>
              <a:ext cx="749085" cy="762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2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/>
              <a:t>GENERAL FORMAT OF SCRIPT</a:t>
            </a:r>
            <a:endParaRPr/>
          </a:p>
        </p:txBody>
      </p:sp>
      <p:sp>
        <p:nvSpPr>
          <p:cNvPr id="360" name="Google Shape;360;p22"/>
          <p:cNvSpPr txBox="1"/>
          <p:nvPr>
            <p:ph idx="1" type="body"/>
          </p:nvPr>
        </p:nvSpPr>
        <p:spPr>
          <a:xfrm>
            <a:off x="1603122" y="2362962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def function_name () 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statement</a:t>
            </a:r>
            <a:br>
              <a:rPr lang="en-US"/>
            </a:br>
            <a:r>
              <a:rPr lang="en-US"/>
              <a:t>     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...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3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/>
              <a:t>GENERAL FORMAT OF SCRIPT</a:t>
            </a:r>
            <a:endParaRPr/>
          </a:p>
        </p:txBody>
      </p:sp>
      <p:sp>
        <p:nvSpPr>
          <p:cNvPr id="366" name="Google Shape;366;p23"/>
          <p:cNvSpPr txBox="1"/>
          <p:nvPr>
            <p:ph idx="1" type="body"/>
          </p:nvPr>
        </p:nvSpPr>
        <p:spPr>
          <a:xfrm>
            <a:off x="1603122" y="2289679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def function_name () 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statement</a:t>
            </a:r>
            <a:br>
              <a:rPr lang="en-US"/>
            </a:br>
            <a:r>
              <a:rPr lang="en-US"/>
              <a:t>     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...</a:t>
            </a:r>
            <a:endParaRPr/>
          </a:p>
        </p:txBody>
      </p:sp>
      <p:cxnSp>
        <p:nvCxnSpPr>
          <p:cNvPr id="367" name="Google Shape;367;p23"/>
          <p:cNvCxnSpPr/>
          <p:nvPr/>
        </p:nvCxnSpPr>
        <p:spPr>
          <a:xfrm flipH="1">
            <a:off x="3771899" y="2771850"/>
            <a:ext cx="800100" cy="371475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8" name="Google Shape;368;p23"/>
          <p:cNvSpPr txBox="1"/>
          <p:nvPr/>
        </p:nvSpPr>
        <p:spPr>
          <a:xfrm>
            <a:off x="4695823" y="2448684"/>
            <a:ext cx="204495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Make sure to include a colon</a:t>
            </a:r>
            <a:endParaRPr/>
          </a:p>
        </p:txBody>
      </p:sp>
      <p:cxnSp>
        <p:nvCxnSpPr>
          <p:cNvPr id="369" name="Google Shape;369;p23"/>
          <p:cNvCxnSpPr/>
          <p:nvPr/>
        </p:nvCxnSpPr>
        <p:spPr>
          <a:xfrm rot="10800000">
            <a:off x="2419350" y="4420493"/>
            <a:ext cx="93345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0" name="Google Shape;370;p23"/>
          <p:cNvSpPr txBox="1"/>
          <p:nvPr/>
        </p:nvSpPr>
        <p:spPr>
          <a:xfrm>
            <a:off x="3559003" y="4301771"/>
            <a:ext cx="251498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Can have multiple lines of statements, and different forms of execution embedded in function instructions</a:t>
            </a:r>
            <a:endParaRPr/>
          </a:p>
        </p:txBody>
      </p:sp>
      <p:cxnSp>
        <p:nvCxnSpPr>
          <p:cNvPr id="371" name="Google Shape;371;p23"/>
          <p:cNvCxnSpPr/>
          <p:nvPr/>
        </p:nvCxnSpPr>
        <p:spPr>
          <a:xfrm flipH="1" rot="10800000">
            <a:off x="979824" y="3840670"/>
            <a:ext cx="897889" cy="477454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2" name="Google Shape;372;p23"/>
          <p:cNvSpPr txBox="1"/>
          <p:nvPr/>
        </p:nvSpPr>
        <p:spPr>
          <a:xfrm>
            <a:off x="188573" y="4382774"/>
            <a:ext cx="1903539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Statement following defining statement should be offset</a:t>
            </a:r>
            <a:endParaRPr/>
          </a:p>
        </p:txBody>
      </p:sp>
      <p:sp>
        <p:nvSpPr>
          <p:cNvPr id="373" name="Google Shape;373;p23"/>
          <p:cNvSpPr txBox="1"/>
          <p:nvPr/>
        </p:nvSpPr>
        <p:spPr>
          <a:xfrm>
            <a:off x="6740776" y="5673293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and importantly…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4"/>
          <p:cNvSpPr txBox="1"/>
          <p:nvPr>
            <p:ph type="title"/>
          </p:nvPr>
        </p:nvSpPr>
        <p:spPr>
          <a:xfrm>
            <a:off x="1106424" y="2386744"/>
            <a:ext cx="6940296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500"/>
              <a:buFont typeface="Gill Sans"/>
              <a:buNone/>
            </a:pPr>
            <a:r>
              <a:rPr lang="en-US"/>
              <a:t>CODE BREAK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2020-09-27T19:09:25Z</dcterms:created>
  <dc:creator>Saba N Siddiki</dc:creator>
</cp:coreProperties>
</file>